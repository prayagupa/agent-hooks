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ACS policy-engine v0.3.1-beta. Goal: every agent framework exposes the same eight interception points; every consumer (policy, observability, audit, cost) targets one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agentmesh-integrations survey: payload representation ranges from typed dataclasses to Option&lt;String&gt;; agent identity resolution is ad-hoc; PydanticAI/CrewAI lack agent-level lifecycle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ACS keeps PolicyInput, manifest, Cedar/OPA dispatchers, annotators, runtime_error:* reasons. agent-hooks owns only the bidirectional wire contract. N+M replaces N*M.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 is forbidden at startup/shutdown (no actionable target). Capability subsetting (§3.2): a tool-router host with no model calls may omit *_model_call and still claim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context_identity = sha256(canonical_json(L0+L1 only)). L2 and extensions are stripped so adding a trace_id or budget never changes the approval-binding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evaluate_only mode (§8): same pipeline, verdicts recorded, action always proceeds. The host MUST NOT present an evaluate_only outcome as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design question RM-09: should ApprovalResolution.verdict be restricted to allow|warn so a resolver cannot inject a transform that bypasses the consumer chain?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question: replace §10.1 with a normative reference to RFC 8785 (JCS) or document the deltas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is the ONLY framework-specific code (~100 lines). Vectors and runner are shared. A claim is (framework, adapter-ver, spec-ver, Level N, sdk-lang@ver).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Emitter (host-side §6-§9 helper) only exists in Python; other SDKs expose types + identity + interfaces and expect the host framework to wire them. RM-27 tracks CTK runner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findings: docs/arch-review/2026-06-22/ROADMAP.md. 1 critical, 40 high, 46 medium, 9 low before dedup.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genuine design choices, not bugs. Each has a defensible answer either way; the spec must pick one and state it normatively.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horizon is critical/high with S/M effort. Full list with evidence and recommendations in ROADMAP.md.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00B7C3"/>
                </a:solidFill>
                <a:latin typeface="Segoe UI"/>
              </a:rPr>
              <a:t>AGENT-HOOKS</a:t>
            </a:r>
          </a:p>
          <a:p>
            <a:pPr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 framework-neutral hook contract for AI agents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C8C8C8"/>
                </a:solidFill>
                <a:latin typeface="Segoe UI"/>
              </a:rPr>
              <a:t>Design review · spec v0.1.0-alpha · responsibleai/agent-hooks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PROBLEM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Every framework x every consumer = bespoke adapter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Surveyed 7 framework integrations in AGT: no shared base, divergent payloads, uneven hook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8611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OpenAI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14803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LangChain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0995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Semantic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87187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CrewAI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23379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PydanticAI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9571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AutoGen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95763" y="20116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1803" y="47548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ACS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5195" y="47548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OTel tracing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8587" y="47548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Audit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1979" y="47548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Cost tracker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5371" y="475488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Content filter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87271" y="2697480"/>
            <a:ext cx="6217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87271" y="2697480"/>
            <a:ext cx="26151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87271" y="2697480"/>
            <a:ext cx="4608576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87271" y="2697480"/>
            <a:ext cx="6601968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87271" y="2697480"/>
            <a:ext cx="859536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09063" y="2697480"/>
            <a:ext cx="91440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23463" y="2697480"/>
            <a:ext cx="10789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23463" y="2697480"/>
            <a:ext cx="30723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23463" y="2697480"/>
            <a:ext cx="5065776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23463" y="2697480"/>
            <a:ext cx="7059168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109063" y="2697480"/>
            <a:ext cx="24505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102455" y="2697480"/>
            <a:ext cx="45720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59655" y="2697480"/>
            <a:ext cx="15361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59655" y="2697480"/>
            <a:ext cx="35295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59655" y="2697480"/>
            <a:ext cx="5522976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109063" y="2697480"/>
            <a:ext cx="39867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4102455" y="2697480"/>
            <a:ext cx="19933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5847" y="2697480"/>
            <a:ext cx="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5847" y="2697480"/>
            <a:ext cx="19933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5847" y="2697480"/>
            <a:ext cx="39867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109063" y="2697480"/>
            <a:ext cx="5522976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102455" y="2697480"/>
            <a:ext cx="35295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095847" y="2697480"/>
            <a:ext cx="15361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32039" y="2697480"/>
            <a:ext cx="45720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32039" y="2697480"/>
            <a:ext cx="24505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109063" y="2697480"/>
            <a:ext cx="7059168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102455" y="2697480"/>
            <a:ext cx="5065776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6095847" y="2697480"/>
            <a:ext cx="30723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089239" y="2697480"/>
            <a:ext cx="10789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168231" y="2697480"/>
            <a:ext cx="91440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109063" y="2697480"/>
            <a:ext cx="8595360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102455" y="2697480"/>
            <a:ext cx="6601968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095847" y="2697480"/>
            <a:ext cx="4608576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089239" y="2697480"/>
            <a:ext cx="2615184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0082631" y="2697480"/>
            <a:ext cx="621792" cy="205740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632807" y="3520440"/>
            <a:ext cx="2926080" cy="50292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7 x 5 = 35 adapters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ARCHITECTURE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agent-hooks is the wire contract; ACS becomes one consumer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Frameworks emit HookContext; consumers return Verdict; host enforces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8611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OpenAI Agents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87271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14803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LangChain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23463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50995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Semantic Kernel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59655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7187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CrewAI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23379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PydanticAI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2039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59571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AutoGen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68231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95763" y="1828800"/>
            <a:ext cx="1417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Segoe UI"/>
              </a:rPr>
              <a:t>LangGraph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704423" y="2423160"/>
            <a:ext cx="0" cy="457200"/>
          </a:xfrm>
          <a:prstGeom prst="line">
            <a:avLst/>
          </a:prstGeom>
          <a:ln w="1270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288036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0B7C3"/>
                </a:solidFill>
                <a:latin typeface="Segoe UI"/>
              </a:rPr>
              <a:t>agent-hooks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C8D4E0"/>
                </a:solidFill>
                <a:latin typeface="Segoe UI"/>
              </a:rPr>
              <a:t>HookPoint  ·  HookContext  ·  Verdict  ·  host obligations  ·  approval seam  ·  context_identity  ·  CTK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886200"/>
            <a:ext cx="182880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4A4A55"/>
                </a:solidFill>
                <a:latin typeface="Segoe UI"/>
              </a:rPr>
              <a:t>HookContext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1295" y="3886200"/>
            <a:ext cx="182880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4A4A55"/>
                </a:solidFill>
                <a:latin typeface="Segoe UI"/>
              </a:rPr>
              <a:t>↑ Verdict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1803" y="4572000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ACS policy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09063" y="3794760"/>
            <a:ext cx="0" cy="777240"/>
          </a:xfrm>
          <a:prstGeom prst="line">
            <a:avLst/>
          </a:prstGeom>
          <a:ln w="12700">
            <a:solidFill>
              <a:srgbClr val="B4009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65195" y="4572000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OTel tracing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02455" y="3794760"/>
            <a:ext cx="0" cy="777240"/>
          </a:xfrm>
          <a:prstGeom prst="line">
            <a:avLst/>
          </a:prstGeom>
          <a:ln w="12700">
            <a:solidFill>
              <a:srgbClr val="B4009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58587" y="4572000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Audit log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3794760"/>
            <a:ext cx="0" cy="777240"/>
          </a:xfrm>
          <a:prstGeom prst="line">
            <a:avLst/>
          </a:prstGeom>
          <a:ln w="12700">
            <a:solidFill>
              <a:srgbClr val="B4009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51979" y="4572000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Cost tracker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89239" y="3794760"/>
            <a:ext cx="0" cy="777240"/>
          </a:xfrm>
          <a:prstGeom prst="line">
            <a:avLst/>
          </a:prstGeom>
          <a:ln w="12700">
            <a:solidFill>
              <a:srgbClr val="B4009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5371" y="4572000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Content filter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82631" y="3794760"/>
            <a:ext cx="0" cy="777240"/>
          </a:xfrm>
          <a:prstGeom prst="line">
            <a:avLst/>
          </a:prstGeom>
          <a:ln w="12700">
            <a:solidFill>
              <a:srgbClr val="B4009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67047" y="553212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7 + 5 = 12 adapters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SPEC §3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Eight hook points on the agent loop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Closed set; pre/post pairs bracket each side-effect; sequence is strictly increasing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374136"/>
            <a:ext cx="10545775" cy="18288"/>
          </a:xfrm>
          <a:prstGeom prst="rect">
            <a:avLst/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3328416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" y="214884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agent_startup</a:t>
            </a:r>
          </a:p>
          <a:p>
            <a:pPr algn="ctr">
              <a:spcAft>
                <a:spcPts val="200"/>
              </a:spcAft>
            </a:pPr>
            <a:r>
              <a:rPr sz="700" b="0" i="0">
                <a:solidFill>
                  <a:srgbClr val="6E6E6E"/>
                </a:solidFill>
                <a:latin typeface="Segoe UI"/>
              </a:rPr>
              <a:t>transform forbidden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926080"/>
            <a:ext cx="0" cy="45720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274635" y="3328416"/>
            <a:ext cx="109728" cy="109728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52259" y="37033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input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29499" y="3383280"/>
            <a:ext cx="0" cy="320040"/>
          </a:xfrm>
          <a:prstGeom prst="line">
            <a:avLst/>
          </a:prstGeom>
          <a:ln w="12700">
            <a:solidFill>
              <a:srgbClr val="00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1174" y="3328416"/>
            <a:ext cx="109728" cy="109728"/>
          </a:xfrm>
          <a:prstGeom prst="ellipse">
            <a:avLst/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58798" y="214884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pre_model_call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36038" y="2926080"/>
            <a:ext cx="0" cy="457200"/>
          </a:xfrm>
          <a:prstGeom prst="line">
            <a:avLst/>
          </a:prstGeom>
          <a:ln w="12700">
            <a:solidFill>
              <a:srgbClr val="B40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87713" y="3328416"/>
            <a:ext cx="109728" cy="109728"/>
          </a:xfrm>
          <a:prstGeom prst="ellipse">
            <a:avLst/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5337" y="37033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post_model_call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342577" y="3383280"/>
            <a:ext cx="0" cy="320040"/>
          </a:xfrm>
          <a:prstGeom prst="line">
            <a:avLst/>
          </a:prstGeom>
          <a:ln w="12700">
            <a:solidFill>
              <a:srgbClr val="B40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94253" y="3328416"/>
            <a:ext cx="109728" cy="109728"/>
          </a:xfrm>
          <a:prstGeom prst="ellipse">
            <a:avLst/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71877" y="214884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pre_tool_call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49117" y="2926080"/>
            <a:ext cx="0" cy="457200"/>
          </a:xfrm>
          <a:prstGeom prst="line">
            <a:avLst/>
          </a:prstGeom>
          <a:ln w="12700">
            <a:solidFill>
              <a:srgbClr val="C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300792" y="3328416"/>
            <a:ext cx="109728" cy="109728"/>
          </a:xfrm>
          <a:prstGeom prst="ellipse">
            <a:avLst/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78416" y="37033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post_tool_call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355656" y="3383280"/>
            <a:ext cx="0" cy="320040"/>
          </a:xfrm>
          <a:prstGeom prst="line">
            <a:avLst/>
          </a:prstGeom>
          <a:ln w="12700">
            <a:solidFill>
              <a:srgbClr val="C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807331" y="3328416"/>
            <a:ext cx="109728" cy="109728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955" y="214884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62195" y="2926080"/>
            <a:ext cx="0" cy="457200"/>
          </a:xfrm>
          <a:prstGeom prst="line">
            <a:avLst/>
          </a:prstGeom>
          <a:ln w="12700">
            <a:solidFill>
              <a:srgbClr val="00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313871" y="3328416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91495" y="370332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Cascadia Mono"/>
              </a:rPr>
              <a:t>agent_shutdown</a:t>
            </a:r>
          </a:p>
          <a:p>
            <a:pPr algn="ctr">
              <a:spcAft>
                <a:spcPts val="200"/>
              </a:spcAft>
            </a:pPr>
            <a:r>
              <a:rPr sz="700" b="0" i="0">
                <a:solidFill>
                  <a:srgbClr val="6E6E6E"/>
                </a:solidFill>
                <a:latin typeface="Segoe UI"/>
              </a:rPr>
              <a:t>transform forbidden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1368735" y="3383280"/>
            <a:ext cx="0" cy="32004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836038" y="4754880"/>
            <a:ext cx="1506539" cy="36576"/>
          </a:xfrm>
          <a:prstGeom prst="rect">
            <a:avLst/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36038" y="4846320"/>
            <a:ext cx="1506539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B4009E"/>
                </a:solidFill>
                <a:latin typeface="Segoe UI"/>
              </a:rPr>
              <a:t>model call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9117" y="4754880"/>
            <a:ext cx="1506539" cy="36576"/>
          </a:xfrm>
          <a:prstGeom prst="rect">
            <a:avLst/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49117" y="4846320"/>
            <a:ext cx="1506539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CA5A00"/>
                </a:solidFill>
                <a:latin typeface="Segoe UI"/>
              </a:rPr>
              <a:t>tool 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52160"/>
            <a:ext cx="10545775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§3.1: startup precedes all; shutdown follows all; each pre_X is followed by exactly one post_X for the same id unless blocked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SPEC §4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HookContext: tiered schema with an explicit $target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L0+L1 are sufficient to decide and to compute identity; L2/L3 are additive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6766560" cy="4114800"/>
          </a:xfrm>
          <a:prstGeom prst="roundRect">
            <a:avLst>
              <a:gd name="adj" fmla="val 8000"/>
            </a:avLst>
          </a:prstGeom>
          <a:solidFill>
            <a:srgbClr val="EEEEF1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L3  extensions.&lt;ns&gt;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A4A55"/>
                </a:solidFill>
                <a:latin typeface="Segoe UI"/>
              </a:rPr>
              <a:t>namespaced free-for-all (acs, ctk reserved)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240280"/>
            <a:ext cx="6126480" cy="347472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1343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L2  well-known optional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A4A55"/>
                </a:solidFill>
                <a:latin typeface="Segoe UI"/>
              </a:rPr>
              <a:t>trace, tenant, budgets, usage, model.params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560320"/>
            <a:ext cx="5486400" cy="2834640"/>
          </a:xfrm>
          <a:prstGeom prst="roundRect">
            <a:avLst>
              <a:gd name="adj" fmla="val 8000"/>
            </a:avLst>
          </a:prstGeom>
          <a:solidFill>
            <a:srgbClr val="D4E6F6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39" y="26334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L1  per-hook required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A4A55"/>
                </a:solidFill>
                <a:latin typeface="Segoe UI"/>
              </a:rPr>
              <a:t>tool_call.{id,name,args}, response, messages,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880360"/>
            <a:ext cx="4846320" cy="2194560"/>
          </a:xfrm>
          <a:prstGeom prst="roundRect">
            <a:avLst>
              <a:gd name="adj" fmla="val 8000"/>
            </a:avLst>
          </a:prstGeom>
          <a:solidFill>
            <a:srgbClr val="C0DBF2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79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L0  always required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A4A55"/>
                </a:solidFill>
                <a:latin typeface="Segoe UI"/>
              </a:rPr>
              <a:t>spec, hook_point, timestamp, sequence, agent.{id,framework}, session.id,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B7C3"/>
                </a:solidFill>
                <a:latin typeface="Cascadia Mono"/>
              </a:rPr>
              <a:t>$target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432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2B2B2B"/>
                </a:solidFill>
                <a:latin typeface="Segoe UI"/>
              </a:rPr>
              <a:t>The value the action will consume / has produced.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4A4A55"/>
                </a:solidFill>
                <a:latin typeface="Cascadia Mono"/>
              </a:rPr>
              <a:t>  input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0078D4"/>
                </a:solidFill>
                <a:latin typeface="Cascadia Mono"/>
              </a:rPr>
              <a:t>    -&gt; input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4A4A55"/>
                </a:solidFill>
                <a:latin typeface="Cascadia Mono"/>
              </a:rPr>
              <a:t>  pre_model_call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0078D4"/>
                </a:solidFill>
                <a:latin typeface="Cascadia Mono"/>
              </a:rPr>
              <a:t>    -&gt; messages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4A4A55"/>
                </a:solidFill>
                <a:latin typeface="Cascadia Mono"/>
              </a:rPr>
              <a:t>  post_model_call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0078D4"/>
                </a:solidFill>
                <a:latin typeface="Cascadia Mono"/>
              </a:rPr>
              <a:t>    -&gt; response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4A4A55"/>
                </a:solidFill>
                <a:latin typeface="Cascadia Mono"/>
              </a:rPr>
              <a:t>  pre_tool_call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0078D4"/>
                </a:solidFill>
                <a:latin typeface="Cascadia Mono"/>
              </a:rPr>
              <a:t>    -&gt; tool_call.args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4A4A55"/>
                </a:solidFill>
                <a:latin typeface="Cascadia Mono"/>
              </a:rPr>
              <a:t>  post_tool_call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0078D4"/>
                </a:solidFill>
                <a:latin typeface="Cascadia Mono"/>
              </a:rPr>
              <a:t>    -&gt; tool_result.value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4A4A55"/>
                </a:solidFill>
                <a:latin typeface="Cascadia Mono"/>
              </a:rPr>
              <a:t>  output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0078D4"/>
                </a:solidFill>
                <a:latin typeface="Cascadia Mono"/>
              </a:rPr>
              <a:t>    -&gt; output</a:t>
            </a:r>
          </a:p>
          <a:p>
            <a:pPr>
              <a:spcAft>
                <a:spcPts val="200"/>
              </a:spcAft>
            </a:pPr>
            <a:r>
              <a:rPr sz="900" b="0" i="1">
                <a:solidFill>
                  <a:srgbClr val="CA5A00"/>
                </a:solidFill>
                <a:latin typeface="Segoe UI"/>
              </a:rPr>
              <a:t>Only $target may be rewritten by transform (§5.2).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SPEC §5–6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Verdict and host obligations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Five decisions; permit-class proceeds, block-class halts; the host MUST enforce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81447" y="201168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scadia Mono"/>
              </a:rPr>
              <a:t>Verdict.decision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651863" y="2468880"/>
            <a:ext cx="4443984" cy="640080"/>
          </a:xfrm>
          <a:prstGeom prst="line">
            <a:avLst/>
          </a:prstGeom>
          <a:ln w="1270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3163" y="310896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scadia Mono"/>
              </a:rPr>
              <a:t>allow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" y="36576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proceed; target unchanged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1863" y="4297680"/>
            <a:ext cx="0" cy="548640"/>
          </a:xfrm>
          <a:prstGeom prst="line">
            <a:avLst/>
          </a:prstGeom>
          <a:ln w="19050">
            <a:solidFill>
              <a:srgbClr val="10883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873855" y="2468880"/>
            <a:ext cx="2221992" cy="640080"/>
          </a:xfrm>
          <a:prstGeom prst="line">
            <a:avLst/>
          </a:prstGeom>
          <a:ln w="1270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45155" y="310896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scadia Mono"/>
              </a:rPr>
              <a:t>warn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5155" y="36576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proceed; record reason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73855" y="4297680"/>
            <a:ext cx="0" cy="548640"/>
          </a:xfrm>
          <a:prstGeom prst="line">
            <a:avLst/>
          </a:prstGeom>
          <a:ln w="19050">
            <a:solidFill>
              <a:srgbClr val="10883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2468880"/>
            <a:ext cx="0" cy="640080"/>
          </a:xfrm>
          <a:prstGeom prst="line">
            <a:avLst/>
          </a:prstGeom>
          <a:ln w="1270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67147" y="310896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scadia Mono"/>
              </a:rPr>
              <a:t>transform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7147" y="36576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apply $target rewrite, then proceed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4297680"/>
            <a:ext cx="0" cy="548640"/>
          </a:xfrm>
          <a:prstGeom prst="line">
            <a:avLst/>
          </a:prstGeom>
          <a:ln w="19050">
            <a:solidFill>
              <a:srgbClr val="10883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2468880"/>
            <a:ext cx="2221992" cy="640080"/>
          </a:xfrm>
          <a:prstGeom prst="line">
            <a:avLst/>
          </a:prstGeom>
          <a:ln w="1270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89139" y="310896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scadia Mono"/>
              </a:rPr>
              <a:t>escalate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9139" y="36576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halt; consult approval resolver (§9)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7839" y="4297680"/>
            <a:ext cx="0" cy="548640"/>
          </a:xfrm>
          <a:prstGeom prst="line">
            <a:avLst/>
          </a:prstGeom>
          <a:ln w="19050">
            <a:solidFill>
              <a:srgbClr val="C50F1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5847" y="2468880"/>
            <a:ext cx="4443984" cy="640080"/>
          </a:xfrm>
          <a:prstGeom prst="line">
            <a:avLst/>
          </a:prstGeom>
          <a:ln w="1270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11131" y="310896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C5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scadia Mono"/>
              </a:rPr>
              <a:t>deny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11131" y="36576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0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halt; action MUST NOT execute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39831" y="4297680"/>
            <a:ext cx="0" cy="548640"/>
          </a:xfrm>
          <a:prstGeom prst="line">
            <a:avLst/>
          </a:prstGeom>
          <a:ln w="19050">
            <a:solidFill>
              <a:srgbClr val="C50F1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3163" y="4846320"/>
            <a:ext cx="6501384" cy="54864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1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163" y="4892040"/>
            <a:ext cx="6501384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0883E"/>
                </a:solidFill>
                <a:latin typeface="Segoe UI"/>
              </a:rPr>
              <a:t>PERMIT  →  action executes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9139" y="4846320"/>
            <a:ext cx="4279392" cy="54864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C50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89139" y="4892040"/>
            <a:ext cx="4279392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C50F1F"/>
                </a:solidFill>
                <a:latin typeface="Segoe UI"/>
              </a:rPr>
              <a:t>BLOCK  →  action MUST NOT execute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760720"/>
            <a:ext cx="10545775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§6.2: when a pre_X hook blocks, post_X is NOT emitted. §6.3: any failure (consumer raised, timeout, invalid verdict) fails closed to deny with a hook_error:* reason.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SPEC §9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The escalate approval seam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Approval is bound to context_identity so the approver consents to exactly the action that will execute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9661" y="20116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Host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1181" y="2423160"/>
            <a:ext cx="0" cy="370332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46105" y="20116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B40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Consumer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77625" y="2423160"/>
            <a:ext cx="0" cy="370332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82549" y="20116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Resolver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14069" y="2423160"/>
            <a:ext cx="0" cy="370332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18993" y="20116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0513" y="2423160"/>
            <a:ext cx="0" cy="370332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41181" y="2834640"/>
            <a:ext cx="2636444" cy="0"/>
          </a:xfrm>
          <a:prstGeom prst="line">
            <a:avLst/>
          </a:prstGeom>
          <a:ln w="1905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96363" y="2542032"/>
            <a:ext cx="2926080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0078D4"/>
                </a:solidFill>
                <a:latin typeface="Cascadia Mono"/>
              </a:rPr>
              <a:t>on_hook(ctx)  id=sha256(L0+L1)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141181" y="3246120"/>
            <a:ext cx="2636444" cy="0"/>
          </a:xfrm>
          <a:prstGeom prst="line">
            <a:avLst/>
          </a:prstGeom>
          <a:ln w="19050">
            <a:solidFill>
              <a:srgbClr val="B4009E"/>
            </a:solidFill>
            <a:prstDash val="dash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96363" y="2953512"/>
            <a:ext cx="2926080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B4009E"/>
                </a:solidFill>
                <a:latin typeface="Cascadia Mono"/>
              </a:rPr>
              <a:t>Verdict{escalate}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1181" y="3657600"/>
            <a:ext cx="5272888" cy="0"/>
          </a:xfrm>
          <a:prstGeom prst="line">
            <a:avLst/>
          </a:prstGeom>
          <a:ln w="19050">
            <a:solidFill>
              <a:srgbClr val="CA5A0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14585" y="3364992"/>
            <a:ext cx="2926080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CA5A00"/>
                </a:solidFill>
                <a:latin typeface="Cascadia Mono"/>
              </a:rPr>
              <a:t>ApprovalRequest{id, ctx, verdict}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141181" y="4069080"/>
            <a:ext cx="5272888" cy="0"/>
          </a:xfrm>
          <a:prstGeom prst="line">
            <a:avLst/>
          </a:prstGeom>
          <a:ln w="19050">
            <a:solidFill>
              <a:srgbClr val="CA5A00"/>
            </a:solidFill>
            <a:prstDash val="dash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4585" y="3776472"/>
            <a:ext cx="2926080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CA5A00"/>
                </a:solidFill>
                <a:latin typeface="Cascadia Mono"/>
              </a:rPr>
              <a:t>ApprovalResolution{outcome, id', verdict'}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72501" y="45262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B2B2B"/>
                </a:solidFill>
                <a:latin typeface="Cascadia Mono"/>
              </a:rPr>
              <a:t>id' == id 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41181" y="5120640"/>
            <a:ext cx="7909332" cy="0"/>
          </a:xfrm>
          <a:prstGeom prst="line">
            <a:avLst/>
          </a:prstGeom>
          <a:ln w="19050">
            <a:solidFill>
              <a:srgbClr val="10883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32807" y="4828032"/>
            <a:ext cx="2926080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10883E"/>
                </a:solidFill>
                <a:latin typeface="Cascadia Mono"/>
              </a:rPr>
              <a:t>approve→permit  →  execute(target)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15501" y="5376672"/>
            <a:ext cx="411480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C50F1F"/>
                </a:solidFill>
                <a:latin typeface="Cascadia Mono"/>
              </a:rPr>
              <a:t>reject / unresolved / id mismatch  →  deny (hook_error:approval_*)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SPEC §10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context_identity: stable across SDKs, scoped to L0+L1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Approval binding and cross-host audit correlation depend on byte-identical hashes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E6E6E6"/>
                </a:solidFill>
                <a:latin typeface="Cascadia Mono"/>
              </a:rPr>
              <a:t>canonical_json( strip_to_L0+L1(ctx)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0883E"/>
                </a:solidFill>
                <a:latin typeface="Segoe UI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42316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scadia Mono"/>
              </a:rPr>
              <a:t>spec, hook_point, timestamp,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0883E"/>
                </a:solidFill>
                <a:latin typeface="Segoe UI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83464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scadia Mono"/>
              </a:rPr>
              <a:t>agent.{id, framework}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0883E"/>
                </a:solidFill>
                <a:latin typeface="Segoe UI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24612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scadia Mono"/>
              </a:rPr>
              <a:t>session.{id}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0883E"/>
                </a:solidFill>
                <a:latin typeface="Segoe UI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65760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scadia Mono"/>
              </a:rPr>
              <a:t>target  +  L1 fields for this hook_point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6908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6E6E6E"/>
                </a:solidFill>
                <a:latin typeface="Segoe UI"/>
              </a:rP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06908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E6E6E"/>
                </a:solidFill>
                <a:latin typeface="Cascadia Mono"/>
              </a:rPr>
              <a:t>agent.{name, version}, session.started_at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6E6E6E"/>
                </a:solidFill>
                <a:latin typeface="Segoe UI"/>
              </a:rPr>
              <a:t>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48056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E6E6E"/>
                </a:solidFill>
                <a:latin typeface="Cascadia Mono"/>
              </a:rPr>
              <a:t>trace, tenant, budgets,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9204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6E6E6E"/>
                </a:solidFill>
                <a:latin typeface="Segoe UI"/>
              </a:rPr>
              <a:t>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892040"/>
            <a:ext cx="45262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E6E6E"/>
                </a:solidFill>
                <a:latin typeface="Cascadia Mono"/>
              </a:rPr>
              <a:t>extensions.*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474720"/>
            <a:ext cx="731520" cy="0"/>
          </a:xfrm>
          <a:prstGeom prst="line">
            <a:avLst/>
          </a:prstGeom>
          <a:ln w="3175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3200400"/>
            <a:ext cx="1371600" cy="5486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SHA-256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40" y="3474720"/>
            <a:ext cx="731520" cy="0"/>
          </a:xfrm>
          <a:prstGeom prst="line">
            <a:avLst/>
          </a:prstGeom>
          <a:ln w="31750">
            <a:solidFill>
              <a:srgbClr val="0078D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324612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00B7C3"/>
                </a:solidFill>
                <a:latin typeface="Cascadia Mono"/>
              </a:rPr>
              <a:t>sha256:7c3f…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0624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Why strip L2/L3?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Adding a trace_id or budget MUST NOT change the approval hash.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input_identity vs enforced_identity: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Equal except after a transform; the approver consents to the enforced 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97880"/>
            <a:ext cx="10545775" cy="41148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C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CA5A00"/>
                </a:solidFill>
                <a:latin typeface="Segoe UI"/>
              </a:rPr>
              <a:t>RM-02/03 (high): canonical JSON underspecified vs RFC 8785; no cross-SDK golden vectors yet → identities may diverge silently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SPEC §13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Conformance Test Kit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Language-agnostic JSON vectors; one Harness shim per framework; three conformance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7360" y="201168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Level 3  Complete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8E8E8"/>
                </a:solidFill>
                <a:latin typeface="Segoe UI"/>
              </a:rPr>
              <a:t>L2 fields, result_labels propagation, parallel/streaming, stable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3154680"/>
            <a:ext cx="3383279" cy="10058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Level 2  Enforcing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8E8E8"/>
                </a:solidFill>
                <a:latin typeface="Segoe UI"/>
              </a:rPr>
              <a:t>honours deny / transform / escalate / evaluate_only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4206240" cy="1005840"/>
          </a:xfrm>
          <a:prstGeom prst="roundRect">
            <a:avLst>
              <a:gd name="adj" fmla="val 8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Level 1  Observing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8E8E8"/>
                </a:solidFill>
                <a:latin typeface="Segoe UI"/>
              </a:rPr>
              <a:t>all hooks fire in order with valid L0+L1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011680"/>
            <a:ext cx="5608015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0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Segoe UI"/>
              </a:rPr>
              <a:t/>
            </a:r>
            <a:r>
              <a:rPr sz="1100" b="1" i="0">
                <a:solidFill>
                  <a:srgbClr val="102A43"/>
                </a:solidFill>
                <a:latin typeface="Segoe UI"/>
              </a:rPr>
              <a:t>vectors/*.json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4A4A55"/>
                </a:solidFill>
                <a:latin typeface="Segoe UI"/>
              </a:rPr>
              <a:t>scenario + consumer_script + expect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788920"/>
            <a:ext cx="0" cy="182880"/>
          </a:xfrm>
          <a:prstGeom prst="line">
            <a:avLst/>
          </a:prstGeom>
          <a:ln w="1905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60720" y="2971800"/>
            <a:ext cx="5608015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Segoe UI"/>
              </a:rPr>
              <a:t/>
            </a:r>
            <a:r>
              <a:rPr sz="1100" b="1" i="0">
                <a:solidFill>
                  <a:srgbClr val="102A43"/>
                </a:solidFill>
                <a:latin typeface="Segoe UI"/>
              </a:rPr>
              <a:t>CTK runner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4A4A55"/>
                </a:solidFill>
                <a:latin typeface="Segoe UI"/>
              </a:rPr>
              <a:t>ScriptedConsumer + RecordingConsumer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3749039"/>
            <a:ext cx="0" cy="182881"/>
          </a:xfrm>
          <a:prstGeom prst="line">
            <a:avLst/>
          </a:prstGeom>
          <a:ln w="1905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3931920"/>
            <a:ext cx="5608015" cy="77724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2700">
            <a:solidFill>
              <a:srgbClr val="C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Segoe UI"/>
              </a:rPr>
              <a:t/>
            </a:r>
            <a:r>
              <a:rPr sz="1100" b="1" i="0">
                <a:solidFill>
                  <a:srgbClr val="102A43"/>
                </a:solidFill>
                <a:latin typeface="Segoe UI"/>
              </a:rPr>
              <a:t>Harness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4A4A55"/>
                </a:solidFill>
                <a:latin typeface="Segoe UI"/>
              </a:rPr>
              <a:t>framework shim: setup() / run() / teardown()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4709160"/>
            <a:ext cx="0" cy="182880"/>
          </a:xfrm>
          <a:prstGeom prst="line">
            <a:avLst/>
          </a:prstGeom>
          <a:ln w="19050">
            <a:solidFill>
              <a:srgbClr val="4A4A5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720" y="4892040"/>
            <a:ext cx="5608015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Segoe UI"/>
              </a:rPr>
              <a:t/>
            </a:r>
            <a:r>
              <a:rPr sz="1100" b="1" i="0">
                <a:solidFill>
                  <a:srgbClr val="102A43"/>
                </a:solidFill>
                <a:latin typeface="Segoe UI"/>
              </a:rPr>
              <a:t>framework under test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4A4A55"/>
                </a:solidFill>
                <a:latin typeface="Segoe UI"/>
              </a:rPr>
              <a:t>real adapter, mock model +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5897880"/>
            <a:ext cx="5608015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C50F1F"/>
                </a:solidFill>
                <a:latin typeface="Segoe UI"/>
              </a:rPr>
              <a:t>14 vectors today (L1+L2). RM-01 (critical): negative-path / fail-closed vectors missing.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STATUS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SDK parity at v0.1.0-alpha.1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Python is the reference; others ship types + identity + Harness interface; CTK runners scaffolded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2194560"/>
            <a:ext cx="1371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A43"/>
                </a:solidFill>
                <a:latin typeface="Segoe UI"/>
              </a:rPr>
              <a:t>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1371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A43"/>
                </a:solidFill>
                <a:latin typeface="Segoe UI"/>
              </a:rPr>
              <a:t>canonical /
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194560"/>
            <a:ext cx="1371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A43"/>
                </a:solidFill>
                <a:latin typeface="Segoe UI"/>
              </a:rPr>
              <a:t>emitter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194560"/>
            <a:ext cx="1371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A43"/>
                </a:solidFill>
                <a:latin typeface="Segoe UI"/>
              </a:rPr>
              <a:t>Harness
iface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194560"/>
            <a:ext cx="1371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A43"/>
                </a:solidFill>
                <a:latin typeface="Segoe UI"/>
              </a:rPr>
              <a:t>CTK
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2194560"/>
            <a:ext cx="137160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02A43"/>
                </a:solidFill>
                <a:latin typeface="Segoe UI"/>
              </a:rPr>
              <a:t>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926079"/>
            <a:ext cx="14173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92607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92607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92607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92607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92607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926079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639311"/>
            <a:ext cx="14173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Rust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639311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639311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3639311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E6E6E"/>
                </a:solidFill>
                <a:latin typeface="Segoe U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3639311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3639311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scaffold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3639311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352544"/>
            <a:ext cx="14173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352544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352544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4352544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E6E6E"/>
                </a:solidFill>
                <a:latin typeface="Segoe UI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4352544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4352544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scaffold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4352544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0" y="5065775"/>
            <a:ext cx="14173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.NET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5065775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065775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5065775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E6E6E"/>
                </a:solidFill>
                <a:latin typeface="Segoe UI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5065775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5065775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scaffold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065775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63040" y="5779007"/>
            <a:ext cx="14173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Go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5779007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5779007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5779007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E6E6E"/>
                </a:solidFill>
                <a:latin typeface="Segoe UI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5779007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5779007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scaffold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12680" y="5779007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521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47/47 Python tests pass. All 14 vectors pass against ReferenceHarness. 6/6 CI jobs green at HEAD.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ARCHITECTURAL REVIEW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58 deduplicated findings: severity vs effort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18-dimension parallel review; 96 raw findings deduplicated to 58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463040" y="5852160"/>
            <a:ext cx="7680960" cy="0"/>
          </a:xfrm>
          <a:prstGeom prst="line">
            <a:avLst/>
          </a:prstGeom>
          <a:ln w="19050">
            <a:solidFill>
              <a:srgbClr val="2B2B2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463040" y="2286000"/>
            <a:ext cx="0" cy="3566160"/>
          </a:xfrm>
          <a:prstGeom prst="line">
            <a:avLst/>
          </a:prstGeom>
          <a:ln w="1905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5897880"/>
            <a:ext cx="54864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5897880"/>
            <a:ext cx="54864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5897880"/>
            <a:ext cx="54864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5897880"/>
            <a:ext cx="54864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XL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6217920"/>
            <a:ext cx="182880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effort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69230"/>
            <a:ext cx="86868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77690"/>
            <a:ext cx="86868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medium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86150"/>
            <a:ext cx="86868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94610"/>
            <a:ext cx="86868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4A4A55"/>
                </a:solidFill>
                <a:latin typeface="Segoe UI"/>
              </a:rPr>
              <a:t>critical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931920"/>
            <a:ext cx="27432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4A4A55"/>
                </a:solidFill>
                <a:latin typeface="Segoe UI"/>
              </a:rPr>
              <a:t>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2286000"/>
            <a:ext cx="3794760" cy="178308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1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54480" y="2331720"/>
            <a:ext cx="12801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0883E"/>
                </a:solidFill>
                <a:latin typeface="Segoe UI"/>
              </a:rPr>
              <a:t>NOW (26)</a:t>
            </a:r>
          </a:p>
        </p:txBody>
      </p:sp>
      <p:sp>
        <p:nvSpPr>
          <p:cNvPr id="19" name="Oval 18"/>
          <p:cNvSpPr/>
          <p:nvPr/>
        </p:nvSpPr>
        <p:spPr>
          <a:xfrm>
            <a:off x="4178808" y="2567178"/>
            <a:ext cx="329184" cy="329184"/>
          </a:xfrm>
          <a:prstGeom prst="ellipse">
            <a:avLst/>
          </a:prstGeom>
          <a:solidFill>
            <a:srgbClr val="C5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78808" y="2594610"/>
            <a:ext cx="329184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2622042"/>
            <a:ext cx="822960" cy="2286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C50F1F"/>
                </a:solidFill>
                <a:latin typeface="Cascadia Mono"/>
              </a:rPr>
              <a:t>RM-01</a:t>
            </a:r>
          </a:p>
        </p:txBody>
      </p:sp>
      <p:sp>
        <p:nvSpPr>
          <p:cNvPr id="22" name="Oval 21"/>
          <p:cNvSpPr/>
          <p:nvPr/>
        </p:nvSpPr>
        <p:spPr>
          <a:xfrm>
            <a:off x="2123377" y="3323527"/>
            <a:ext cx="599564" cy="599564"/>
          </a:xfrm>
          <a:prstGeom prst="ellipse">
            <a:avLst/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23377" y="3486150"/>
            <a:ext cx="599564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4035857" y="3315767"/>
            <a:ext cx="615085" cy="615085"/>
          </a:xfrm>
          <a:prstGeom prst="ellipse">
            <a:avLst/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35857" y="3486150"/>
            <a:ext cx="615085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26" name="Oval 25"/>
          <p:cNvSpPr/>
          <p:nvPr/>
        </p:nvSpPr>
        <p:spPr>
          <a:xfrm>
            <a:off x="6099048" y="3458718"/>
            <a:ext cx="329184" cy="329184"/>
          </a:xfrm>
          <a:prstGeom prst="ellipse">
            <a:avLst/>
          </a:prstGeom>
          <a:solidFill>
            <a:srgbClr val="C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99048" y="3486150"/>
            <a:ext cx="329184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1" y="3513582"/>
            <a:ext cx="822960" cy="2286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CA5A00"/>
                </a:solidFill>
                <a:latin typeface="Cascadia Mono"/>
              </a:rPr>
              <a:t>RM-27</a:t>
            </a:r>
          </a:p>
        </p:txBody>
      </p:sp>
      <p:sp>
        <p:nvSpPr>
          <p:cNvPr id="29" name="Oval 28"/>
          <p:cNvSpPr/>
          <p:nvPr/>
        </p:nvSpPr>
        <p:spPr>
          <a:xfrm>
            <a:off x="2087221" y="4178911"/>
            <a:ext cx="671876" cy="67187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87221" y="4377690"/>
            <a:ext cx="671876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1" name="Oval 30"/>
          <p:cNvSpPr/>
          <p:nvPr/>
        </p:nvSpPr>
        <p:spPr>
          <a:xfrm>
            <a:off x="4078493" y="4249943"/>
            <a:ext cx="529813" cy="529813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78493" y="4377690"/>
            <a:ext cx="529813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3" name="Oval 32"/>
          <p:cNvSpPr/>
          <p:nvPr/>
        </p:nvSpPr>
        <p:spPr>
          <a:xfrm>
            <a:off x="2190752" y="5173982"/>
            <a:ext cx="464815" cy="464815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90752" y="5269230"/>
            <a:ext cx="464815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4178808" y="5241798"/>
            <a:ext cx="329184" cy="329184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78808" y="5269230"/>
            <a:ext cx="329184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194560"/>
            <a:ext cx="1950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02A43"/>
                </a:solidFill>
                <a:latin typeface="Segoe UI"/>
              </a:rPr>
              <a:t>Top of NOW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RM-01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Fail-closed has zero CTK coverage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RM-08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hook_error:* verdicts violate own schema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RM-16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emit() result is ignorable; deny bypassable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RM-04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Mutable ctx → covert transform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RM-02/03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Canonical JSON diverges; no golden vectors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RM-05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No threat model / non-goals</a:t>
            </a:r>
          </a:p>
          <a:p>
            <a:pPr>
              <a:spcAft>
                <a:spcPts val="0"/>
              </a:spcAft>
            </a:pPr>
            <a:r>
              <a:rPr sz="900" b="1" i="0">
                <a:solidFill>
                  <a:srgbClr val="CA5A00"/>
                </a:solidFill>
                <a:latin typeface="Cascadia Mono"/>
              </a:rPr>
              <a:t>  RM-19/20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    Actions unpinned; Cargo.lock ignored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DECISIONS NEEDED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Six open design questions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Each changes normative spec text; need a call before v0.1.0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457200" cy="5943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Canonical JSON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Replace §10.1 with RFC 8785 (JCS) reference, or document deltas as a JCS profile?   [RM-02]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33472"/>
            <a:ext cx="457200" cy="5943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633472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Approval transform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May ApprovalResolution return transform, or restrict to allow|warn so resolvers cannot bypass consumers?   [RM-09]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46704"/>
            <a:ext cx="457200" cy="5943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346704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Zero consumers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Implicit allow, or deny with hook_error:no_consumer?   [RM-12]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59935"/>
            <a:ext cx="457200" cy="5943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59935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Multi-consumer combine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Keep first-block short-circuit, or invoke all and apply deny&gt;escalate&gt;transform&gt;warn&gt;allow lattice?   [RM-11]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73168"/>
            <a:ext cx="457200" cy="5943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73168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Consumer trust roles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All consumers one trust class, or define observing vs controlling at registration?   [RM-29]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486400"/>
            <a:ext cx="457200" cy="5943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486400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2A43"/>
                </a:solidFill>
                <a:latin typeface="Segoe UI"/>
              </a:rPr>
              <a:t>Streaming egress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In scope for 0.1 (buffer-until-permit), or explicit non-goal deferred to 0.2?   [RM-10]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0078D4"/>
                </a:solidFill>
                <a:latin typeface="Segoe UI"/>
              </a:rPr>
              <a:t>ROADMAP</a:t>
            </a:r>
          </a:p>
          <a:p>
            <a:pPr>
              <a:spcAft>
                <a:spcPts val="400"/>
              </a:spcAft>
            </a:pPr>
            <a:r>
              <a:rPr sz="2600" b="1" i="0">
                <a:solidFill>
                  <a:srgbClr val="101010"/>
                </a:solidFill>
                <a:latin typeface="Segoe UI"/>
              </a:rPr>
              <a:t>Now / Next / Later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4A4A55"/>
                </a:solidFill>
                <a:latin typeface="Segoe UI"/>
              </a:rPr>
              <a:t>docs/arch-review/2026-06-22/ROADMAP.md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911535" cy="1371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93338" cy="640080"/>
          </a:xfrm>
          <a:prstGeom prst="roundRect">
            <a:avLst>
              <a:gd name="adj" fmla="val 8000"/>
            </a:avLst>
          </a:prstGeom>
          <a:solidFill>
            <a:srgbClr val="1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NOW  (26)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8E8E8"/>
                </a:solidFill>
                <a:latin typeface="Segoe UI"/>
              </a:rPr>
              <a:t>before widening collaborator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93338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11901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RM-01 fail-closed CTK vectors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RM-02/03 RFC 8785 + golden vectors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RM-04/16 immutable ctx + must-use result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RM-05 threat model + non-goals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RM-08 schema fix for hook_error:*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RM-09/11/12 §7 + §9 spec tightening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RM-19/20/25 CI pinning + CODEOWNERS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828800"/>
            <a:ext cx="3393338" cy="64008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NEXT  (26)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8E8E8"/>
                </a:solidFill>
                <a:latin typeface="Segoe UI"/>
              </a:rPr>
              <a:t>before spec/v0.1.0 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468880"/>
            <a:ext cx="3393338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6338" y="2606040"/>
            <a:ext cx="311901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RM-27 cross-SDK CTK parity gate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RM-29 consumer trust roles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RM-34 per-consumer verdict provenance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RM-40 payload size/depth bounds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RM-43 release workflow + SBOM + signing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RM-45 Level-3 vectors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RM-51 OWASP/NIST controls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396" y="1828800"/>
            <a:ext cx="3393338" cy="640080"/>
          </a:xfrm>
          <a:prstGeom prst="roundRect">
            <a:avLst>
              <a:gd name="adj" fmla="val 8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LATER  (6)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8E8E8"/>
                </a:solidFill>
                <a:latin typeface="Segoe UI"/>
              </a:rPr>
              <a:t>post-0.1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5396" y="2468880"/>
            <a:ext cx="3393338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A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2556" y="2606040"/>
            <a:ext cx="311901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RM-54 pluggable telemetry sink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RM-55 per-SDK READMEs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2B2B2B"/>
                </a:solidFill>
                <a:latin typeface="Segoe UI"/>
              </a:rPr>
              <a:t>RM-56/57/58 hygiene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00B7C3"/>
                </a:solidFill>
                <a:latin typeface="Segoe UI"/>
              </a:rPr>
              <a:t>ASK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What we need from this review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  •  Decide the six open questions</a:t>
            </a:r>
          </a:p>
          <a:p>
            <a:pPr>
              <a:spcAft>
                <a:spcPts val="1000"/>
              </a:spcAft>
            </a:pPr>
            <a:r>
              <a:rPr sz="1000" b="0" i="0">
                <a:solidFill>
                  <a:srgbClr val="C0C8D4"/>
                </a:solidFill>
                <a:latin typeface="Segoe UI"/>
              </a:rPr>
              <a:t>      Each is a one-paragraph spec edit once decided; blocking RM-02/09/10/11/12/29.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  •  Confirm the layering cut</a:t>
            </a:r>
          </a:p>
          <a:p>
            <a:pPr>
              <a:spcAft>
                <a:spcPts val="1000"/>
              </a:spcAft>
            </a:pPr>
            <a:r>
              <a:rPr sz="1000" b="0" i="0">
                <a:solidFill>
                  <a:srgbClr val="C0C8D4"/>
                </a:solidFill>
                <a:latin typeface="Segoe UI"/>
              </a:rPr>
              <a:t>      Verdict and approval seam in agent-hooks vs ACS; identity computed over HookContext not PolicyInput.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  •  Nominate per-language CTK owners</a:t>
            </a:r>
          </a:p>
          <a:p>
            <a:pPr>
              <a:spcAft>
                <a:spcPts val="1000"/>
              </a:spcAft>
            </a:pPr>
            <a:r>
              <a:rPr sz="1000" b="0" i="0">
                <a:solidFill>
                  <a:srgbClr val="C0C8D4"/>
                </a:solidFill>
                <a:latin typeface="Segoe UI"/>
              </a:rPr>
              <a:t>      Rust, TS, .NET, Go runners are scaffolded; need an owner each to reach parity (RM-27).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  •  Approve the conformance-claim format</a:t>
            </a:r>
          </a:p>
          <a:p>
            <a:pPr>
              <a:spcAft>
                <a:spcPts val="1000"/>
              </a:spcAft>
            </a:pPr>
            <a:r>
              <a:rPr sz="1000" b="0" i="0">
                <a:solidFill>
                  <a:srgbClr val="C0C8D4"/>
                </a:solidFill>
                <a:latin typeface="Segoe UI"/>
              </a:rPr>
              <a:t>      CLAIMS.md row shape and the scope disclaimer (RM-30).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6035040"/>
            <a:ext cx="9997135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909CAA"/>
                </a:solidFill>
                <a:latin typeface="Cascadia Mono"/>
              </a:rPr>
              <a:t>github.com/responsibleai/agent-hooks  ·  spec/AGENT-HOOKS-0.1.md  ·  docs/arch-review/2026-06-22/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