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Extracted from ACS policy-engine v0.3.1-beta. Goal: every agent framework exposes the same eight interception points; every control component (policy engine, content filter, rate limiter, approval gateway, egress guard) targets one contract. Control plane only; tracing and passive observability are out of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agentmesh-integrations survey: payload representation ranges from typed dataclasses to Option&lt;String&gt;; agent identity resolution is ad-hoc; PydanticAI/CrewAI lack agent-level lifecycle entirely.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ACS keeps PolicyInput, manifest, Cedar/OPA dispatchers, annotators, runtime_error:* reasons. agent-hooks owns only the bidirectional wire contract. N+M replaces N*M.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transform is forbidden at startup/shutdown (no actionable target). Capability subsetting (§3.2): a tool-router host with no model calls may omit *_model_call and still claim conformance.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context_identity = sha256(canonical_json(L0+L1 only)). L2 and extensions are stripped so adding a trace_id or budget never changes the approval-binding hash.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evaluate_only mode (§8): same pipeline, verdicts recorded, action always proceeds. The host MUST NOT present an evaluate_only outcome as enforcement.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design question RM-09: should ApprovalResolution.verdict be restricted to allow|warn so a resolver cannot inject a transform that bypasses the interceptor chain?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question: replace §10.1 with a normative reference to RFC 8785 (JCS) or document the deltas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Harness is the ONLY framework-specific code (~100 lines). Vectors and runner are shared. A claim is (framework, adapter-ver, spec-ver, Level N, sdk-lang@ver).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Emitter (host-side §6-§9 helper) only exists in Python; other SDKs expose types + identity + interfaces and expect the host framework to wire them. RM-27 tracks CTK runner parity.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findings: docs/arch-review/2026-06-22/ROADMAP.md. 1 critical, 40 high, 46 medium, 9 low before dedup.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genuine design choices, not bugs. Each has a defensible answer either way; the spec must pick one and state it normatively.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horizon is critical/high with S/M effort. Full list with evidence and recommendations in ROADMAP.md.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 i="0">
                <a:solidFill>
                  <a:srgbClr val="00B7C3"/>
                </a:solidFill>
                <a:latin typeface="Segoe UI"/>
              </a:rPr>
              <a:t>AGENT-HOOKS</a:t>
            </a:r>
          </a:p>
          <a:p>
            <a:pPr>
              <a:spcAft>
                <a:spcPts val="10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A framework-neutral control contract for AI agents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C8C8C8"/>
                </a:solidFill>
                <a:latin typeface="Segoe UI"/>
              </a:rPr>
              <a:t>Design review · spec v0.1.0-alpha · responsibleai/agent-hooks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0078D4"/>
                </a:solidFill>
                <a:latin typeface="Segoe UI"/>
              </a:rPr>
              <a:t>PROBLEM</a:t>
            </a:r>
          </a:p>
          <a:p>
            <a:pPr>
              <a:spcAft>
                <a:spcPts val="400"/>
              </a:spcAft>
            </a:pPr>
            <a:r>
              <a:rPr sz="2600" b="1" i="0">
                <a:solidFill>
                  <a:srgbClr val="101010"/>
                </a:solidFill>
                <a:latin typeface="Segoe UI"/>
              </a:rPr>
              <a:t>Every framework x every control = bespoke adapter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4A4A55"/>
                </a:solidFill>
                <a:latin typeface="Segoe UI"/>
              </a:rPr>
              <a:t>Surveyed 7 framework integrations in AGT: no shared base, divergent payloads, uneven interception-point 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10911535" cy="13716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8611" y="2011680"/>
            <a:ext cx="14173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OpenAI Agents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14803" y="2011680"/>
            <a:ext cx="14173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LangChain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50995" y="2011680"/>
            <a:ext cx="14173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Semantic Kernel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87187" y="2011680"/>
            <a:ext cx="14173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CrewAI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23379" y="2011680"/>
            <a:ext cx="14173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PydanticAI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9571" y="2011680"/>
            <a:ext cx="14173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AutoGen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995763" y="2011680"/>
            <a:ext cx="14173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LangGraph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71803" y="4754880"/>
            <a:ext cx="1874519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0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ACS policy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65195" y="4754880"/>
            <a:ext cx="1874519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0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Content filter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8587" y="4754880"/>
            <a:ext cx="1874519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0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Rate limiter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51979" y="4754880"/>
            <a:ext cx="1874519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0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Approval gateway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5371" y="4754880"/>
            <a:ext cx="1874519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0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Egress guard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87271" y="2697480"/>
            <a:ext cx="621792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87271" y="2697480"/>
            <a:ext cx="2615184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487271" y="2697480"/>
            <a:ext cx="4608576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87271" y="2697480"/>
            <a:ext cx="6601968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487271" y="2697480"/>
            <a:ext cx="8595360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2109063" y="2697480"/>
            <a:ext cx="914400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023463" y="2697480"/>
            <a:ext cx="1078992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023463" y="2697480"/>
            <a:ext cx="3072384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023463" y="2697480"/>
            <a:ext cx="5065776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023463" y="2697480"/>
            <a:ext cx="7059168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2109063" y="2697480"/>
            <a:ext cx="2450592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4102455" y="2697480"/>
            <a:ext cx="457200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559655" y="2697480"/>
            <a:ext cx="1536192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559655" y="2697480"/>
            <a:ext cx="3529584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559655" y="2697480"/>
            <a:ext cx="5522976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2109063" y="2697480"/>
            <a:ext cx="3986784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4102455" y="2697480"/>
            <a:ext cx="1993392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095847" y="2697480"/>
            <a:ext cx="0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095847" y="2697480"/>
            <a:ext cx="1993392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095847" y="2697480"/>
            <a:ext cx="3986784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2109063" y="2697480"/>
            <a:ext cx="5522976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4102455" y="2697480"/>
            <a:ext cx="3529584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6095847" y="2697480"/>
            <a:ext cx="1536192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632039" y="2697480"/>
            <a:ext cx="457200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632039" y="2697480"/>
            <a:ext cx="2450592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109063" y="2697480"/>
            <a:ext cx="7059168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4102455" y="2697480"/>
            <a:ext cx="5065776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6095847" y="2697480"/>
            <a:ext cx="3072384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8089239" y="2697480"/>
            <a:ext cx="1078992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9168231" y="2697480"/>
            <a:ext cx="914400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109063" y="2697480"/>
            <a:ext cx="8595360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4102455" y="2697480"/>
            <a:ext cx="6601968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6095847" y="2697480"/>
            <a:ext cx="4608576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8089239" y="2697480"/>
            <a:ext cx="2615184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0082631" y="2697480"/>
            <a:ext cx="621792" cy="205740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4632807" y="3520440"/>
            <a:ext cx="2926080" cy="502920"/>
          </a:xfrm>
          <a:prstGeom prst="roundRect">
            <a:avLst>
              <a:gd name="adj" fmla="val 8000"/>
            </a:avLst>
          </a:prstGeom>
          <a:solidFill>
            <a:srgbClr val="C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7 x 5 = 35 adapters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0078D4"/>
                </a:solidFill>
                <a:latin typeface="Segoe UI"/>
              </a:rPr>
              <a:t>ARCHITECTURE</a:t>
            </a:r>
          </a:p>
          <a:p>
            <a:pPr>
              <a:spcAft>
                <a:spcPts val="400"/>
              </a:spcAft>
            </a:pPr>
            <a:r>
              <a:rPr sz="2600" b="1" i="0">
                <a:solidFill>
                  <a:srgbClr val="101010"/>
                </a:solidFill>
                <a:latin typeface="Segoe UI"/>
              </a:rPr>
              <a:t>agent-hooks is the wire contract; ACS becomes one interceptor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4A4A55"/>
                </a:solidFill>
                <a:latin typeface="Segoe UI"/>
              </a:rPr>
              <a:t>Frameworks emit AgentContext; interceptors return Verdict; host enforces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10911535" cy="13716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8611" y="1828800"/>
            <a:ext cx="14173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B2B2B"/>
                </a:solidFill>
                <a:latin typeface="Segoe UI"/>
              </a:rPr>
              <a:t>OpenAI Agents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87271" y="2423160"/>
            <a:ext cx="0" cy="457200"/>
          </a:xfrm>
          <a:prstGeom prst="line">
            <a:avLst/>
          </a:prstGeom>
          <a:ln w="12700">
            <a:solidFill>
              <a:srgbClr val="0078D4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314803" y="1828800"/>
            <a:ext cx="14173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B2B2B"/>
                </a:solidFill>
                <a:latin typeface="Segoe UI"/>
              </a:rPr>
              <a:t>LangChain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23463" y="2423160"/>
            <a:ext cx="0" cy="457200"/>
          </a:xfrm>
          <a:prstGeom prst="line">
            <a:avLst/>
          </a:prstGeom>
          <a:ln w="12700">
            <a:solidFill>
              <a:srgbClr val="0078D4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50995" y="1828800"/>
            <a:ext cx="14173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B2B2B"/>
                </a:solidFill>
                <a:latin typeface="Segoe UI"/>
              </a:rPr>
              <a:t>Semantic Kernel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59655" y="2423160"/>
            <a:ext cx="0" cy="457200"/>
          </a:xfrm>
          <a:prstGeom prst="line">
            <a:avLst/>
          </a:prstGeom>
          <a:ln w="12700">
            <a:solidFill>
              <a:srgbClr val="0078D4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87187" y="1828800"/>
            <a:ext cx="14173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B2B2B"/>
                </a:solidFill>
                <a:latin typeface="Segoe UI"/>
              </a:rPr>
              <a:t>CrewAI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" y="2423160"/>
            <a:ext cx="0" cy="457200"/>
          </a:xfrm>
          <a:prstGeom prst="line">
            <a:avLst/>
          </a:prstGeom>
          <a:ln w="12700">
            <a:solidFill>
              <a:srgbClr val="0078D4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23379" y="1828800"/>
            <a:ext cx="14173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B2B2B"/>
                </a:solidFill>
                <a:latin typeface="Segoe UI"/>
              </a:rPr>
              <a:t>PydanticAI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32039" y="2423160"/>
            <a:ext cx="0" cy="457200"/>
          </a:xfrm>
          <a:prstGeom prst="line">
            <a:avLst/>
          </a:prstGeom>
          <a:ln w="12700">
            <a:solidFill>
              <a:srgbClr val="0078D4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459571" y="1828800"/>
            <a:ext cx="14173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B2B2B"/>
                </a:solidFill>
                <a:latin typeface="Segoe UI"/>
              </a:rPr>
              <a:t>AutoGen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168231" y="2423160"/>
            <a:ext cx="0" cy="457200"/>
          </a:xfrm>
          <a:prstGeom prst="line">
            <a:avLst/>
          </a:prstGeom>
          <a:ln w="12700">
            <a:solidFill>
              <a:srgbClr val="0078D4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995763" y="1828800"/>
            <a:ext cx="141732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B2B2B"/>
                </a:solidFill>
                <a:latin typeface="Segoe UI"/>
              </a:rPr>
              <a:t>LangGraph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704423" y="2423160"/>
            <a:ext cx="0" cy="457200"/>
          </a:xfrm>
          <a:prstGeom prst="line">
            <a:avLst/>
          </a:prstGeom>
          <a:ln w="12700">
            <a:solidFill>
              <a:srgbClr val="0078D4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2880360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102A43"/>
          </a:solidFill>
          <a:ln w="12700">
            <a:solidFill>
              <a:srgbClr val="102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0B7C3"/>
                </a:solidFill>
                <a:latin typeface="Segoe UI"/>
              </a:rPr>
              <a:t>agent-hooks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C8D4E0"/>
                </a:solidFill>
                <a:latin typeface="Segoe UI"/>
              </a:rPr>
              <a:t>InterceptionPoint  ·  AgentContext  ·  Verdict  ·  host obligations  ·  approval seam  ·  context_identity  ·  CTK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3886200"/>
            <a:ext cx="182880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4A4A55"/>
                </a:solidFill>
                <a:latin typeface="Segoe UI"/>
              </a:rPr>
              <a:t>AgentContext 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1295" y="3886200"/>
            <a:ext cx="182880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4A4A55"/>
                </a:solidFill>
                <a:latin typeface="Segoe UI"/>
              </a:rPr>
              <a:t>↑ Verdict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71803" y="4572000"/>
            <a:ext cx="1874519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0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ACS policy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109063" y="3794760"/>
            <a:ext cx="0" cy="777240"/>
          </a:xfrm>
          <a:prstGeom prst="line">
            <a:avLst/>
          </a:prstGeom>
          <a:ln w="12700">
            <a:solidFill>
              <a:srgbClr val="B4009E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165195" y="4572000"/>
            <a:ext cx="1874519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0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Content filter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102455" y="3794760"/>
            <a:ext cx="0" cy="777240"/>
          </a:xfrm>
          <a:prstGeom prst="line">
            <a:avLst/>
          </a:prstGeom>
          <a:ln w="12700">
            <a:solidFill>
              <a:srgbClr val="B4009E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158587" y="4572000"/>
            <a:ext cx="1874519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0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Rate limiter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95847" y="3794760"/>
            <a:ext cx="0" cy="777240"/>
          </a:xfrm>
          <a:prstGeom prst="line">
            <a:avLst/>
          </a:prstGeom>
          <a:ln w="12700">
            <a:solidFill>
              <a:srgbClr val="B4009E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151979" y="4572000"/>
            <a:ext cx="1874519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0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Approval gateway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089239" y="3794760"/>
            <a:ext cx="0" cy="777240"/>
          </a:xfrm>
          <a:prstGeom prst="line">
            <a:avLst/>
          </a:prstGeom>
          <a:ln w="12700">
            <a:solidFill>
              <a:srgbClr val="B4009E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145371" y="4572000"/>
            <a:ext cx="1874519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0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Egress guard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82631" y="3794760"/>
            <a:ext cx="0" cy="777240"/>
          </a:xfrm>
          <a:prstGeom prst="line">
            <a:avLst/>
          </a:prstGeom>
          <a:ln w="12700">
            <a:solidFill>
              <a:srgbClr val="B4009E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267047" y="5532120"/>
            <a:ext cx="3657600" cy="45720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7 + 5 = 12 adapters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0078D4"/>
                </a:solidFill>
                <a:latin typeface="Segoe UI"/>
              </a:rPr>
              <a:t>SPEC §3</a:t>
            </a:r>
          </a:p>
          <a:p>
            <a:pPr>
              <a:spcAft>
                <a:spcPts val="400"/>
              </a:spcAft>
            </a:pPr>
            <a:r>
              <a:rPr sz="2600" b="1" i="0">
                <a:solidFill>
                  <a:srgbClr val="101010"/>
                </a:solidFill>
                <a:latin typeface="Segoe UI"/>
              </a:rPr>
              <a:t>Eight interception points on the agent loop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4A4A55"/>
                </a:solidFill>
                <a:latin typeface="Segoe UI"/>
              </a:rPr>
              <a:t>Closed set; pre/post pairs bracket each side-effect; sequence is strictly increasing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10911535" cy="13716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3374136"/>
            <a:ext cx="10545775" cy="18288"/>
          </a:xfrm>
          <a:prstGeom prst="rect">
            <a:avLst/>
          </a:prstGeom>
          <a:solidFill>
            <a:srgbClr val="4A4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8096" y="3328416"/>
            <a:ext cx="109728" cy="109728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" y="2148840"/>
            <a:ext cx="15544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Cascadia Mono"/>
              </a:rPr>
              <a:t>agent_startup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6E6E6E"/>
                </a:solidFill>
                <a:latin typeface="Segoe UI"/>
              </a:rPr>
              <a:t>transform forbidden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926080"/>
            <a:ext cx="0" cy="457200"/>
          </a:xfrm>
          <a:prstGeom prst="line">
            <a:avLst/>
          </a:prstGeom>
          <a:ln w="127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274635" y="3328416"/>
            <a:ext cx="109728" cy="109728"/>
          </a:xfrm>
          <a:prstGeom prst="ellipse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552259" y="3703320"/>
            <a:ext cx="15544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Cascadia Mono"/>
              </a:rPr>
              <a:t>input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329499" y="3383280"/>
            <a:ext cx="0" cy="320040"/>
          </a:xfrm>
          <a:prstGeom prst="line">
            <a:avLst/>
          </a:prstGeom>
          <a:ln w="12700">
            <a:solidFill>
              <a:srgbClr val="00B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3781174" y="3328416"/>
            <a:ext cx="109728" cy="109728"/>
          </a:xfrm>
          <a:prstGeom prst="ellipse">
            <a:avLst/>
          </a:prstGeom>
          <a:solidFill>
            <a:srgbClr val="B40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58798" y="2148840"/>
            <a:ext cx="15544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0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Cascadia Mono"/>
              </a:rPr>
              <a:t>pre_model_call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36038" y="2926080"/>
            <a:ext cx="0" cy="457200"/>
          </a:xfrm>
          <a:prstGeom prst="line">
            <a:avLst/>
          </a:prstGeom>
          <a:ln w="12700">
            <a:solidFill>
              <a:srgbClr val="B400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5287713" y="3328416"/>
            <a:ext cx="109728" cy="109728"/>
          </a:xfrm>
          <a:prstGeom prst="ellipse">
            <a:avLst/>
          </a:prstGeom>
          <a:solidFill>
            <a:srgbClr val="B40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65337" y="3703320"/>
            <a:ext cx="15544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0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Cascadia Mono"/>
              </a:rPr>
              <a:t>post_model_call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5342577" y="3383280"/>
            <a:ext cx="0" cy="320040"/>
          </a:xfrm>
          <a:prstGeom prst="line">
            <a:avLst/>
          </a:prstGeom>
          <a:ln w="12700">
            <a:solidFill>
              <a:srgbClr val="B400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6794253" y="3328416"/>
            <a:ext cx="109728" cy="109728"/>
          </a:xfrm>
          <a:prstGeom prst="ellipse">
            <a:avLst/>
          </a:prstGeom>
          <a:solidFill>
            <a:srgbClr val="C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71877" y="2148840"/>
            <a:ext cx="15544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Cascadia Mono"/>
              </a:rPr>
              <a:t>pre_tool_call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49117" y="2926080"/>
            <a:ext cx="0" cy="457200"/>
          </a:xfrm>
          <a:prstGeom prst="line">
            <a:avLst/>
          </a:prstGeom>
          <a:ln w="12700">
            <a:solidFill>
              <a:srgbClr val="CA5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300792" y="3328416"/>
            <a:ext cx="109728" cy="109728"/>
          </a:xfrm>
          <a:prstGeom prst="ellipse">
            <a:avLst/>
          </a:prstGeom>
          <a:solidFill>
            <a:srgbClr val="C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78416" y="3703320"/>
            <a:ext cx="15544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Cascadia Mono"/>
              </a:rPr>
              <a:t>post_tool_call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8355656" y="3383280"/>
            <a:ext cx="0" cy="320040"/>
          </a:xfrm>
          <a:prstGeom prst="line">
            <a:avLst/>
          </a:prstGeom>
          <a:ln w="12700">
            <a:solidFill>
              <a:srgbClr val="CA5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9807331" y="3328416"/>
            <a:ext cx="109728" cy="109728"/>
          </a:xfrm>
          <a:prstGeom prst="ellipse">
            <a:avLst/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84955" y="2148840"/>
            <a:ext cx="15544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Cascadia Mono"/>
              </a:rPr>
              <a:t>output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862195" y="2926080"/>
            <a:ext cx="0" cy="457200"/>
          </a:xfrm>
          <a:prstGeom prst="line">
            <a:avLst/>
          </a:prstGeom>
          <a:ln w="12700">
            <a:solidFill>
              <a:srgbClr val="00B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11313871" y="3328416"/>
            <a:ext cx="109728" cy="109728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591495" y="3703320"/>
            <a:ext cx="15544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B2B2B"/>
                </a:solidFill>
                <a:latin typeface="Cascadia Mono"/>
              </a:rPr>
              <a:t>agent_shutdown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6E6E6E"/>
                </a:solidFill>
                <a:latin typeface="Segoe UI"/>
              </a:rPr>
              <a:t>transform forbidden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11368735" y="3383280"/>
            <a:ext cx="0" cy="320040"/>
          </a:xfrm>
          <a:prstGeom prst="line">
            <a:avLst/>
          </a:prstGeom>
          <a:ln w="127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836038" y="4754880"/>
            <a:ext cx="1506539" cy="36576"/>
          </a:xfrm>
          <a:prstGeom prst="rect">
            <a:avLst/>
          </a:prstGeom>
          <a:solidFill>
            <a:srgbClr val="B40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836038" y="4846320"/>
            <a:ext cx="1506539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B4009E"/>
                </a:solidFill>
                <a:latin typeface="Segoe UI"/>
              </a:rPr>
              <a:t>model call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49117" y="4754880"/>
            <a:ext cx="1506539" cy="36576"/>
          </a:xfrm>
          <a:prstGeom prst="rect">
            <a:avLst/>
          </a:prstGeom>
          <a:solidFill>
            <a:srgbClr val="C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49117" y="4846320"/>
            <a:ext cx="1506539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CA5A00"/>
                </a:solidFill>
                <a:latin typeface="Segoe UI"/>
              </a:rPr>
              <a:t>tool call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852160"/>
            <a:ext cx="10545775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4A4A55"/>
                </a:solidFill>
                <a:latin typeface="Segoe UI"/>
              </a:rPr>
              <a:t>§3.1: startup precedes all; shutdown follows all; each pre_X is followed by exactly one post_X for the same id unless blocked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0078D4"/>
                </a:solidFill>
                <a:latin typeface="Segoe UI"/>
              </a:rPr>
              <a:t>SPEC §4</a:t>
            </a:r>
          </a:p>
          <a:p>
            <a:pPr>
              <a:spcAft>
                <a:spcPts val="400"/>
              </a:spcAft>
            </a:pPr>
            <a:r>
              <a:rPr sz="2600" b="1" i="0">
                <a:solidFill>
                  <a:srgbClr val="101010"/>
                </a:solidFill>
                <a:latin typeface="Segoe UI"/>
              </a:rPr>
              <a:t>AgentContext: tiered schema with an explicit $target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4A4A55"/>
                </a:solidFill>
                <a:latin typeface="Segoe UI"/>
              </a:rPr>
              <a:t>L0+L1 are sufficient to decide and to compute identity; L2/L3 are additive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10911535" cy="13716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6766560" cy="4114800"/>
          </a:xfrm>
          <a:prstGeom prst="roundRect">
            <a:avLst>
              <a:gd name="adj" fmla="val 8000"/>
            </a:avLst>
          </a:prstGeom>
          <a:solidFill>
            <a:srgbClr val="EEEEF1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9339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L3  extensions.&lt;ns&gt;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4A4A55"/>
                </a:solidFill>
                <a:latin typeface="Segoe UI"/>
              </a:rPr>
              <a:t>namespaced free-for-all (acs, ctk reserved)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240280"/>
            <a:ext cx="6126480" cy="3474720"/>
          </a:xfrm>
          <a:prstGeom prst="roundRect">
            <a:avLst>
              <a:gd name="adj" fmla="val 8000"/>
            </a:avLst>
          </a:prstGeom>
          <a:solidFill>
            <a:srgbClr val="E3ECF6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31343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L2  well-known optional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4A4A55"/>
                </a:solidFill>
                <a:latin typeface="Segoe UI"/>
              </a:rPr>
              <a:t>trace, tenant, budgets, usage, model.params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54480" y="2560320"/>
            <a:ext cx="5486400" cy="2834640"/>
          </a:xfrm>
          <a:prstGeom prst="roundRect">
            <a:avLst>
              <a:gd name="adj" fmla="val 8000"/>
            </a:avLst>
          </a:prstGeom>
          <a:solidFill>
            <a:srgbClr val="D4E6F6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39" y="263347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L1  per-point required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4A4A55"/>
                </a:solidFill>
                <a:latin typeface="Segoe UI"/>
              </a:rPr>
              <a:t>tool_call.{id,name,args}, response, messages, ...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74519" y="2880360"/>
            <a:ext cx="4846320" cy="2194560"/>
          </a:xfrm>
          <a:prstGeom prst="roundRect">
            <a:avLst>
              <a:gd name="adj" fmla="val 8000"/>
            </a:avLst>
          </a:prstGeom>
          <a:solidFill>
            <a:srgbClr val="C0DBF2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79" y="295351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L0  always required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4A4A55"/>
                </a:solidFill>
                <a:latin typeface="Segoe UI"/>
              </a:rPr>
              <a:t>spec, interception_point, timestamp, sequence, agent.{id,framework}, session.id, target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194560"/>
            <a:ext cx="2926080" cy="457200"/>
          </a:xfrm>
          <a:prstGeom prst="roundRect">
            <a:avLst>
              <a:gd name="adj" fmla="val 8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00B7C3"/>
                </a:solidFill>
                <a:latin typeface="Cascadia Mono"/>
              </a:rPr>
              <a:t>$target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743200"/>
            <a:ext cx="2926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2B2B2B"/>
                </a:solidFill>
                <a:latin typeface="Segoe UI"/>
              </a:rPr>
              <a:t>The value the action will consume / has produced.</a:t>
            </a:r>
          </a:p>
          <a:p>
            <a:pPr>
              <a:spcAft>
                <a:spcPts val="0"/>
              </a:spcAft>
            </a:pPr>
            <a:r>
              <a:rPr sz="900" b="0" i="0">
                <a:solidFill>
                  <a:srgbClr val="4A4A55"/>
                </a:solidFill>
                <a:latin typeface="Cascadia Mono"/>
              </a:rPr>
              <a:t>  input</a:t>
            </a:r>
          </a:p>
          <a:p>
            <a:pPr>
              <a:spcAft>
                <a:spcPts val="200"/>
              </a:spcAft>
            </a:pPr>
            <a:r>
              <a:rPr sz="900" b="0" i="0">
                <a:solidFill>
                  <a:srgbClr val="0078D4"/>
                </a:solidFill>
                <a:latin typeface="Cascadia Mono"/>
              </a:rPr>
              <a:t>    -&gt; input</a:t>
            </a:r>
          </a:p>
          <a:p>
            <a:pPr>
              <a:spcAft>
                <a:spcPts val="0"/>
              </a:spcAft>
            </a:pPr>
            <a:r>
              <a:rPr sz="900" b="0" i="0">
                <a:solidFill>
                  <a:srgbClr val="4A4A55"/>
                </a:solidFill>
                <a:latin typeface="Cascadia Mono"/>
              </a:rPr>
              <a:t>  pre_model_call</a:t>
            </a:r>
          </a:p>
          <a:p>
            <a:pPr>
              <a:spcAft>
                <a:spcPts val="200"/>
              </a:spcAft>
            </a:pPr>
            <a:r>
              <a:rPr sz="900" b="0" i="0">
                <a:solidFill>
                  <a:srgbClr val="0078D4"/>
                </a:solidFill>
                <a:latin typeface="Cascadia Mono"/>
              </a:rPr>
              <a:t>    -&gt; messages</a:t>
            </a:r>
          </a:p>
          <a:p>
            <a:pPr>
              <a:spcAft>
                <a:spcPts val="0"/>
              </a:spcAft>
            </a:pPr>
            <a:r>
              <a:rPr sz="900" b="0" i="0">
                <a:solidFill>
                  <a:srgbClr val="4A4A55"/>
                </a:solidFill>
                <a:latin typeface="Cascadia Mono"/>
              </a:rPr>
              <a:t>  post_model_call</a:t>
            </a:r>
          </a:p>
          <a:p>
            <a:pPr>
              <a:spcAft>
                <a:spcPts val="200"/>
              </a:spcAft>
            </a:pPr>
            <a:r>
              <a:rPr sz="900" b="0" i="0">
                <a:solidFill>
                  <a:srgbClr val="0078D4"/>
                </a:solidFill>
                <a:latin typeface="Cascadia Mono"/>
              </a:rPr>
              <a:t>    -&gt; response</a:t>
            </a:r>
          </a:p>
          <a:p>
            <a:pPr>
              <a:spcAft>
                <a:spcPts val="0"/>
              </a:spcAft>
            </a:pPr>
            <a:r>
              <a:rPr sz="900" b="0" i="0">
                <a:solidFill>
                  <a:srgbClr val="4A4A55"/>
                </a:solidFill>
                <a:latin typeface="Cascadia Mono"/>
              </a:rPr>
              <a:t>  pre_tool_call</a:t>
            </a:r>
          </a:p>
          <a:p>
            <a:pPr>
              <a:spcAft>
                <a:spcPts val="200"/>
              </a:spcAft>
            </a:pPr>
            <a:r>
              <a:rPr sz="900" b="0" i="0">
                <a:solidFill>
                  <a:srgbClr val="0078D4"/>
                </a:solidFill>
                <a:latin typeface="Cascadia Mono"/>
              </a:rPr>
              <a:t>    -&gt; tool_call.args</a:t>
            </a:r>
          </a:p>
          <a:p>
            <a:pPr>
              <a:spcAft>
                <a:spcPts val="0"/>
              </a:spcAft>
            </a:pPr>
            <a:r>
              <a:rPr sz="900" b="0" i="0">
                <a:solidFill>
                  <a:srgbClr val="4A4A55"/>
                </a:solidFill>
                <a:latin typeface="Cascadia Mono"/>
              </a:rPr>
              <a:t>  post_tool_call</a:t>
            </a:r>
          </a:p>
          <a:p>
            <a:pPr>
              <a:spcAft>
                <a:spcPts val="200"/>
              </a:spcAft>
            </a:pPr>
            <a:r>
              <a:rPr sz="900" b="0" i="0">
                <a:solidFill>
                  <a:srgbClr val="0078D4"/>
                </a:solidFill>
                <a:latin typeface="Cascadia Mono"/>
              </a:rPr>
              <a:t>    -&gt; tool_result.value</a:t>
            </a:r>
          </a:p>
          <a:p>
            <a:pPr>
              <a:spcAft>
                <a:spcPts val="0"/>
              </a:spcAft>
            </a:pPr>
            <a:r>
              <a:rPr sz="900" b="0" i="0">
                <a:solidFill>
                  <a:srgbClr val="4A4A55"/>
                </a:solidFill>
                <a:latin typeface="Cascadia Mono"/>
              </a:rPr>
              <a:t>  output</a:t>
            </a:r>
          </a:p>
          <a:p>
            <a:pPr>
              <a:spcAft>
                <a:spcPts val="200"/>
              </a:spcAft>
            </a:pPr>
            <a:r>
              <a:rPr sz="900" b="0" i="0">
                <a:solidFill>
                  <a:srgbClr val="0078D4"/>
                </a:solidFill>
                <a:latin typeface="Cascadia Mono"/>
              </a:rPr>
              <a:t>    -&gt; output</a:t>
            </a:r>
          </a:p>
          <a:p>
            <a:pPr>
              <a:spcAft>
                <a:spcPts val="200"/>
              </a:spcAft>
            </a:pPr>
            <a:r>
              <a:rPr sz="900" b="0" i="1">
                <a:solidFill>
                  <a:srgbClr val="CA5A00"/>
                </a:solidFill>
                <a:latin typeface="Segoe UI"/>
              </a:rPr>
              <a:t>Only $target may be rewritten by transform (§5.2).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0078D4"/>
                </a:solidFill>
                <a:latin typeface="Segoe UI"/>
              </a:rPr>
              <a:t>SPEC §5–6</a:t>
            </a:r>
          </a:p>
          <a:p>
            <a:pPr>
              <a:spcAft>
                <a:spcPts val="400"/>
              </a:spcAft>
            </a:pPr>
            <a:r>
              <a:rPr sz="2600" b="1" i="0">
                <a:solidFill>
                  <a:srgbClr val="101010"/>
                </a:solidFill>
                <a:latin typeface="Segoe UI"/>
              </a:rPr>
              <a:t>Verdict and host obligations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4A4A55"/>
                </a:solidFill>
                <a:latin typeface="Segoe UI"/>
              </a:rPr>
              <a:t>Five decisions; permit-class proceeds, block-class halts; the host MUST enforce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10911535" cy="13716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81447" y="2011680"/>
            <a:ext cx="1828800" cy="457200"/>
          </a:xfrm>
          <a:prstGeom prst="roundRect">
            <a:avLst>
              <a:gd name="adj" fmla="val 8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scadia Mono"/>
              </a:rPr>
              <a:t>Verdict.decision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651863" y="2468880"/>
            <a:ext cx="4443984" cy="640080"/>
          </a:xfrm>
          <a:prstGeom prst="line">
            <a:avLst/>
          </a:prstGeom>
          <a:ln w="12700">
            <a:solidFill>
              <a:srgbClr val="4A4A55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23163" y="3108960"/>
            <a:ext cx="2057400" cy="50292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scadia Mono"/>
              </a:rPr>
              <a:t>allow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" y="3657600"/>
            <a:ext cx="20574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8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proceed; target unchanged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1863" y="4297680"/>
            <a:ext cx="0" cy="548640"/>
          </a:xfrm>
          <a:prstGeom prst="line">
            <a:avLst/>
          </a:prstGeom>
          <a:ln w="19050">
            <a:solidFill>
              <a:srgbClr val="10883E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873855" y="2468880"/>
            <a:ext cx="2221992" cy="640080"/>
          </a:xfrm>
          <a:prstGeom prst="line">
            <a:avLst/>
          </a:prstGeom>
          <a:ln w="12700">
            <a:solidFill>
              <a:srgbClr val="4A4A55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45155" y="3108960"/>
            <a:ext cx="2057400" cy="50292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scadia Mono"/>
              </a:rPr>
              <a:t>warn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45155" y="3657600"/>
            <a:ext cx="20574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8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proceed; record reason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73855" y="4297680"/>
            <a:ext cx="0" cy="548640"/>
          </a:xfrm>
          <a:prstGeom prst="line">
            <a:avLst/>
          </a:prstGeom>
          <a:ln w="19050">
            <a:solidFill>
              <a:srgbClr val="10883E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2468880"/>
            <a:ext cx="0" cy="640080"/>
          </a:xfrm>
          <a:prstGeom prst="line">
            <a:avLst/>
          </a:prstGeom>
          <a:ln w="12700">
            <a:solidFill>
              <a:srgbClr val="4A4A55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67147" y="3108960"/>
            <a:ext cx="2057400" cy="502920"/>
          </a:xfrm>
          <a:prstGeom prst="roundRect">
            <a:avLst>
              <a:gd name="adj" fmla="val 8000"/>
            </a:avLst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scadia Mono"/>
              </a:rPr>
              <a:t>transform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67147" y="3657600"/>
            <a:ext cx="20574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apply $target rewrite, then proceed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5847" y="4297680"/>
            <a:ext cx="0" cy="548640"/>
          </a:xfrm>
          <a:prstGeom prst="line">
            <a:avLst/>
          </a:prstGeom>
          <a:ln w="19050">
            <a:solidFill>
              <a:srgbClr val="10883E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2468880"/>
            <a:ext cx="2221992" cy="640080"/>
          </a:xfrm>
          <a:prstGeom prst="line">
            <a:avLst/>
          </a:prstGeom>
          <a:ln w="12700">
            <a:solidFill>
              <a:srgbClr val="4A4A55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289139" y="3108960"/>
            <a:ext cx="2057400" cy="502920"/>
          </a:xfrm>
          <a:prstGeom prst="roundRect">
            <a:avLst>
              <a:gd name="adj" fmla="val 8000"/>
            </a:avLst>
          </a:prstGeom>
          <a:solidFill>
            <a:srgbClr val="C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scadia Mono"/>
              </a:rPr>
              <a:t>escalate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89139" y="3657600"/>
            <a:ext cx="20574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halt; consult approval resolver (§9)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317839" y="4297680"/>
            <a:ext cx="0" cy="548640"/>
          </a:xfrm>
          <a:prstGeom prst="line">
            <a:avLst/>
          </a:prstGeom>
          <a:ln w="19050">
            <a:solidFill>
              <a:srgbClr val="C50F1F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95847" y="2468880"/>
            <a:ext cx="4443984" cy="640080"/>
          </a:xfrm>
          <a:prstGeom prst="line">
            <a:avLst/>
          </a:prstGeom>
          <a:ln w="12700">
            <a:solidFill>
              <a:srgbClr val="4A4A55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511131" y="3108960"/>
            <a:ext cx="2057400" cy="502920"/>
          </a:xfrm>
          <a:prstGeom prst="roundRect">
            <a:avLst>
              <a:gd name="adj" fmla="val 8000"/>
            </a:avLst>
          </a:prstGeom>
          <a:solidFill>
            <a:srgbClr val="C50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scadia Mono"/>
              </a:rPr>
              <a:t>deny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11131" y="3657600"/>
            <a:ext cx="20574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50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halt; action MUST NOT execute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539831" y="4297680"/>
            <a:ext cx="0" cy="548640"/>
          </a:xfrm>
          <a:prstGeom prst="line">
            <a:avLst/>
          </a:prstGeom>
          <a:ln w="19050">
            <a:solidFill>
              <a:srgbClr val="C50F1F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23163" y="4846320"/>
            <a:ext cx="6501384" cy="548640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108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3163" y="4892040"/>
            <a:ext cx="6501384" cy="45720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0883E"/>
                </a:solidFill>
                <a:latin typeface="Segoe UI"/>
              </a:rPr>
              <a:t>PERMIT  →  action executes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89139" y="4846320"/>
            <a:ext cx="4279392" cy="548640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C50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289139" y="4892040"/>
            <a:ext cx="4279392" cy="45720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C50F1F"/>
                </a:solidFill>
                <a:latin typeface="Segoe UI"/>
              </a:rPr>
              <a:t>BLOCK  →  action MUST NOT execute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760720"/>
            <a:ext cx="10545775" cy="45720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4A4A55"/>
                </a:solidFill>
                <a:latin typeface="Segoe UI"/>
              </a:rPr>
              <a:t>§6.2: when a pre_X interception blocks, post_X is NOT emitted. §6.3: any failure (interceptor raised, timeout, invalid verdict) fails closed to deny with a host_error:* reason.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0078D4"/>
                </a:solidFill>
                <a:latin typeface="Segoe UI"/>
              </a:rPr>
              <a:t>SPEC §9</a:t>
            </a:r>
          </a:p>
          <a:p>
            <a:pPr>
              <a:spcAft>
                <a:spcPts val="400"/>
              </a:spcAft>
            </a:pPr>
            <a:r>
              <a:rPr sz="2600" b="1" i="0">
                <a:solidFill>
                  <a:srgbClr val="101010"/>
                </a:solidFill>
                <a:latin typeface="Segoe UI"/>
              </a:rPr>
              <a:t>The escalate approval seam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4A4A55"/>
                </a:solidFill>
                <a:latin typeface="Segoe UI"/>
              </a:rPr>
              <a:t>Approval is bound to context_identity so the approver consents to exactly the action that will execute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10911535" cy="13716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09661" y="2011680"/>
            <a:ext cx="1463040" cy="41148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Host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41181" y="2423160"/>
            <a:ext cx="0" cy="3703320"/>
          </a:xfrm>
          <a:prstGeom prst="line">
            <a:avLst/>
          </a:prstGeom>
          <a:ln w="1270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046105" y="2011680"/>
            <a:ext cx="1463040" cy="411480"/>
          </a:xfrm>
          <a:prstGeom prst="roundRect">
            <a:avLst>
              <a:gd name="adj" fmla="val 8000"/>
            </a:avLst>
          </a:prstGeom>
          <a:solidFill>
            <a:srgbClr val="B400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Interceptor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77625" y="2423160"/>
            <a:ext cx="0" cy="3703320"/>
          </a:xfrm>
          <a:prstGeom prst="line">
            <a:avLst/>
          </a:prstGeom>
          <a:ln w="1270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682549" y="2011680"/>
            <a:ext cx="1463040" cy="411480"/>
          </a:xfrm>
          <a:prstGeom prst="roundRect">
            <a:avLst>
              <a:gd name="adj" fmla="val 8000"/>
            </a:avLst>
          </a:prstGeom>
          <a:solidFill>
            <a:srgbClr val="C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Resolver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14069" y="2423160"/>
            <a:ext cx="0" cy="3703320"/>
          </a:xfrm>
          <a:prstGeom prst="line">
            <a:avLst/>
          </a:prstGeom>
          <a:ln w="1270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318993" y="2011680"/>
            <a:ext cx="1463040" cy="4114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Action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050513" y="2423160"/>
            <a:ext cx="0" cy="3703320"/>
          </a:xfrm>
          <a:prstGeom prst="line">
            <a:avLst/>
          </a:prstGeom>
          <a:ln w="12700">
            <a:solidFill>
              <a:srgbClr val="CCCC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141181" y="2834640"/>
            <a:ext cx="2636444" cy="0"/>
          </a:xfrm>
          <a:prstGeom prst="line">
            <a:avLst/>
          </a:prstGeom>
          <a:ln w="19050">
            <a:solidFill>
              <a:srgbClr val="0078D4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996363" y="2542032"/>
            <a:ext cx="2926080" cy="256032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0078D4"/>
                </a:solidFill>
                <a:latin typeface="Cascadia Mono"/>
              </a:rPr>
              <a:t>intercept(ctx)  id=sha256(L0+L1)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2141181" y="3246120"/>
            <a:ext cx="2636444" cy="0"/>
          </a:xfrm>
          <a:prstGeom prst="line">
            <a:avLst/>
          </a:prstGeom>
          <a:ln w="19050">
            <a:solidFill>
              <a:srgbClr val="B4009E"/>
            </a:solidFill>
            <a:prstDash val="dash"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996363" y="2953512"/>
            <a:ext cx="2926080" cy="256032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B4009E"/>
                </a:solidFill>
                <a:latin typeface="Cascadia Mono"/>
              </a:rPr>
              <a:t>Verdict{escalate}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41181" y="3657600"/>
            <a:ext cx="5272888" cy="0"/>
          </a:xfrm>
          <a:prstGeom prst="line">
            <a:avLst/>
          </a:prstGeom>
          <a:ln w="19050">
            <a:solidFill>
              <a:srgbClr val="CA5A00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314585" y="3364992"/>
            <a:ext cx="2926080" cy="256032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CA5A00"/>
                </a:solidFill>
                <a:latin typeface="Cascadia Mono"/>
              </a:rPr>
              <a:t>ApprovalRequest{id, ctx, verdict}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2141181" y="4069080"/>
            <a:ext cx="5272888" cy="0"/>
          </a:xfrm>
          <a:prstGeom prst="line">
            <a:avLst/>
          </a:prstGeom>
          <a:ln w="19050">
            <a:solidFill>
              <a:srgbClr val="CA5A00"/>
            </a:solidFill>
            <a:prstDash val="dash"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314585" y="3776472"/>
            <a:ext cx="2926080" cy="256032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CA5A00"/>
                </a:solidFill>
                <a:latin typeface="Cascadia Mono"/>
              </a:rPr>
              <a:t>ApprovalResolution{outcome, id', verdict'}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72501" y="45262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2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B2B2B"/>
                </a:solidFill>
                <a:latin typeface="Cascadia Mono"/>
              </a:rPr>
              <a:t>id' == id ?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1181" y="5120640"/>
            <a:ext cx="7909332" cy="0"/>
          </a:xfrm>
          <a:prstGeom prst="line">
            <a:avLst/>
          </a:prstGeom>
          <a:ln w="19050">
            <a:solidFill>
              <a:srgbClr val="10883E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632807" y="4828032"/>
            <a:ext cx="2926080" cy="256032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10883E"/>
                </a:solidFill>
                <a:latin typeface="Cascadia Mono"/>
              </a:rPr>
              <a:t>approve→permit  →  execute(target)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15501" y="5376672"/>
            <a:ext cx="411480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C50F1F"/>
                </a:solidFill>
                <a:latin typeface="Cascadia Mono"/>
              </a:rPr>
              <a:t>reject / unresolved / id mismatch  →  deny (host_error:approval_*)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0078D4"/>
                </a:solidFill>
                <a:latin typeface="Segoe UI"/>
              </a:rPr>
              <a:t>SPEC §10</a:t>
            </a:r>
          </a:p>
          <a:p>
            <a:pPr>
              <a:spcAft>
                <a:spcPts val="400"/>
              </a:spcAft>
            </a:pPr>
            <a:r>
              <a:rPr sz="2600" b="1" i="0">
                <a:solidFill>
                  <a:srgbClr val="101010"/>
                </a:solidFill>
                <a:latin typeface="Segoe UI"/>
              </a:rPr>
              <a:t>context_identity: stable across SDKs, scoped to L0+L1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4A4A55"/>
                </a:solidFill>
                <a:latin typeface="Segoe UI"/>
              </a:rPr>
              <a:t>Approval binding and cross-host audit correlation depend on byte-identical hashes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10911535" cy="13716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4937760" cy="365760"/>
          </a:xfrm>
          <a:prstGeom prst="roundRect">
            <a:avLst>
              <a:gd name="adj" fmla="val 8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E6E6E6"/>
                </a:solidFill>
                <a:latin typeface="Cascadia Mono"/>
              </a:rPr>
              <a:t>canonical_json( strip_to_L0+L1(ctx) 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423160"/>
            <a:ext cx="36576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0883E"/>
                </a:solidFill>
                <a:latin typeface="Segoe UI"/>
              </a:rPr>
              <a:t>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25880" y="2423160"/>
            <a:ext cx="452628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2B2B2B"/>
                </a:solidFill>
                <a:latin typeface="Cascadia Mono"/>
              </a:rPr>
              <a:t>spec, interception_point, timestamp, sequence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834640"/>
            <a:ext cx="36576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0883E"/>
                </a:solidFill>
                <a:latin typeface="Segoe UI"/>
              </a:rPr>
              <a:t>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25880" y="2834640"/>
            <a:ext cx="452628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2B2B2B"/>
                </a:solidFill>
                <a:latin typeface="Cascadia Mono"/>
              </a:rPr>
              <a:t>agent.{id, framework}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246120"/>
            <a:ext cx="36576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0883E"/>
                </a:solidFill>
                <a:latin typeface="Segoe UI"/>
              </a:rPr>
              <a:t>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25880" y="3246120"/>
            <a:ext cx="452628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2B2B2B"/>
                </a:solidFill>
                <a:latin typeface="Cascadia Mono"/>
              </a:rPr>
              <a:t>session.{id}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657600"/>
            <a:ext cx="36576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0883E"/>
                </a:solidFill>
                <a:latin typeface="Segoe UI"/>
              </a:rPr>
              <a:t>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25880" y="3657600"/>
            <a:ext cx="452628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2B2B2B"/>
                </a:solidFill>
                <a:latin typeface="Cascadia Mono"/>
              </a:rPr>
              <a:t>target  +  L1 fields for this interception_point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069080"/>
            <a:ext cx="36576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6E6E6E"/>
                </a:solidFill>
                <a:latin typeface="Segoe UI"/>
              </a:rPr>
              <a:t>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25880" y="4069080"/>
            <a:ext cx="452628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E6E6E"/>
                </a:solidFill>
                <a:latin typeface="Cascadia Mono"/>
              </a:rPr>
              <a:t>agent.{name, version}, session.started_at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480560"/>
            <a:ext cx="36576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6E6E6E"/>
                </a:solidFill>
                <a:latin typeface="Segoe UI"/>
              </a:rPr>
              <a:t>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25880" y="4480560"/>
            <a:ext cx="452628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E6E6E"/>
                </a:solidFill>
                <a:latin typeface="Cascadia Mono"/>
              </a:rPr>
              <a:t>trace, tenant, budgets, usage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892040"/>
            <a:ext cx="36576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6E6E6E"/>
                </a:solidFill>
                <a:latin typeface="Segoe UI"/>
              </a:rPr>
              <a:t>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25880" y="4892040"/>
            <a:ext cx="4526280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E6E6E"/>
                </a:solidFill>
                <a:latin typeface="Cascadia Mono"/>
              </a:rPr>
              <a:t>extensions.*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35040" y="3474720"/>
            <a:ext cx="731520" cy="0"/>
          </a:xfrm>
          <a:prstGeom prst="line">
            <a:avLst/>
          </a:prstGeom>
          <a:ln w="31750">
            <a:solidFill>
              <a:srgbClr val="0078D4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858000" y="3200400"/>
            <a:ext cx="1371600" cy="54864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SHA-256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21040" y="3474720"/>
            <a:ext cx="731520" cy="0"/>
          </a:xfrm>
          <a:prstGeom prst="line">
            <a:avLst/>
          </a:prstGeom>
          <a:ln w="31750">
            <a:solidFill>
              <a:srgbClr val="0078D4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144000" y="3246120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00B7C3"/>
                </a:solidFill>
                <a:latin typeface="Cascadia Mono"/>
              </a:rPr>
              <a:t>sha256:7c3f…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206240"/>
            <a:ext cx="469361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Why strip L2/L3?</a:t>
            </a:r>
          </a:p>
          <a:p>
            <a:pPr>
              <a:spcAft>
                <a:spcPts val="20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Adding a trace_id or budget MUST NOT change the approval hash.</a:t>
            </a:r>
          </a:p>
          <a:p>
            <a:pPr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input_identity vs enforced_identity:</a:t>
            </a:r>
          </a:p>
          <a:p>
            <a:pPr>
              <a:spcAft>
                <a:spcPts val="20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Equal except after a transform; the approver consents to the enforced one.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897880"/>
            <a:ext cx="10545775" cy="41148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C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CA5A00"/>
                </a:solidFill>
                <a:latin typeface="Segoe UI"/>
              </a:rPr>
              <a:t>RM-02/03 (high): canonical JSON underspecified vs RFC 8785; no cross-SDK golden vectors yet → identities may diverge silently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0078D4"/>
                </a:solidFill>
                <a:latin typeface="Segoe UI"/>
              </a:rPr>
              <a:t>SPEC §13</a:t>
            </a:r>
          </a:p>
          <a:p>
            <a:pPr>
              <a:spcAft>
                <a:spcPts val="400"/>
              </a:spcAft>
            </a:pPr>
            <a:r>
              <a:rPr sz="2600" b="1" i="0">
                <a:solidFill>
                  <a:srgbClr val="101010"/>
                </a:solidFill>
                <a:latin typeface="Segoe UI"/>
              </a:rPr>
              <a:t>Conformance Test Kit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4A4A55"/>
                </a:solidFill>
                <a:latin typeface="Segoe UI"/>
              </a:rPr>
              <a:t>Language-agnostic JSON vectors; one Harness shim per framework; three conformance levels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10911535" cy="13716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737360" y="2011680"/>
            <a:ext cx="2560320" cy="1005840"/>
          </a:xfrm>
          <a:prstGeom prst="roundRect">
            <a:avLst>
              <a:gd name="adj" fmla="val 8000"/>
            </a:avLst>
          </a:prstGeom>
          <a:solidFill>
            <a:srgbClr val="00B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Level 3  Complete</a:t>
            </a:r>
          </a:p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E8E8E8"/>
                </a:solidFill>
                <a:latin typeface="Segoe UI"/>
              </a:rPr>
              <a:t>L2 fields, result_labels propagation, parallel/streaming, stable identity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3154680"/>
            <a:ext cx="3383279" cy="100584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Level 2  Enforcing</a:t>
            </a:r>
          </a:p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E8E8E8"/>
                </a:solidFill>
                <a:latin typeface="Segoe UI"/>
              </a:rPr>
              <a:t>honours deny / transform / escalate / evaluate_only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297680"/>
            <a:ext cx="4206240" cy="1005840"/>
          </a:xfrm>
          <a:prstGeom prst="roundRect">
            <a:avLst>
              <a:gd name="adj" fmla="val 8000"/>
            </a:avLst>
          </a:prstGeom>
          <a:solidFill>
            <a:srgbClr val="4A4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Level 1  Instrumented</a:t>
            </a:r>
          </a:p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E8E8E8"/>
                </a:solidFill>
                <a:latin typeface="Segoe UI"/>
              </a:rPr>
              <a:t>all interception points fire in order with valid L0+L1 context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2011680"/>
            <a:ext cx="5608015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0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B2B2B"/>
                </a:solidFill>
                <a:latin typeface="Segoe UI"/>
              </a:rPr>
              <a:t/>
            </a:r>
            <a:r>
              <a:rPr sz="1100" b="1" i="0">
                <a:solidFill>
                  <a:srgbClr val="102A43"/>
                </a:solidFill>
                <a:latin typeface="Segoe UI"/>
              </a:rPr>
              <a:t>vectors/*.json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4A4A55"/>
                </a:solidFill>
                <a:latin typeface="Segoe UI"/>
              </a:rPr>
              <a:t>scenario + interceptor_script + expect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26480" y="2788920"/>
            <a:ext cx="0" cy="182880"/>
          </a:xfrm>
          <a:prstGeom prst="line">
            <a:avLst/>
          </a:prstGeom>
          <a:ln w="19050">
            <a:solidFill>
              <a:srgbClr val="4A4A55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760720" y="2971800"/>
            <a:ext cx="5608015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B2B2B"/>
                </a:solidFill>
                <a:latin typeface="Segoe UI"/>
              </a:rPr>
              <a:t/>
            </a:r>
            <a:r>
              <a:rPr sz="1100" b="1" i="0">
                <a:solidFill>
                  <a:srgbClr val="102A43"/>
                </a:solidFill>
                <a:latin typeface="Segoe UI"/>
              </a:rPr>
              <a:t>CTK runner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4A4A55"/>
                </a:solidFill>
                <a:latin typeface="Segoe UI"/>
              </a:rPr>
              <a:t>ScriptedInterceptor + RecordingInterceptor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26480" y="3749039"/>
            <a:ext cx="0" cy="182881"/>
          </a:xfrm>
          <a:prstGeom prst="line">
            <a:avLst/>
          </a:prstGeom>
          <a:ln w="19050">
            <a:solidFill>
              <a:srgbClr val="4A4A55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760720" y="3931920"/>
            <a:ext cx="5608015" cy="777240"/>
          </a:xfrm>
          <a:prstGeom prst="roundRect">
            <a:avLst>
              <a:gd name="adj" fmla="val 8000"/>
            </a:avLst>
          </a:prstGeom>
          <a:solidFill>
            <a:srgbClr val="FFF6E5"/>
          </a:solidFill>
          <a:ln w="12700">
            <a:solidFill>
              <a:srgbClr val="C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B2B2B"/>
                </a:solidFill>
                <a:latin typeface="Segoe UI"/>
              </a:rPr>
              <a:t/>
            </a:r>
            <a:r>
              <a:rPr sz="1100" b="1" i="0">
                <a:solidFill>
                  <a:srgbClr val="102A43"/>
                </a:solidFill>
                <a:latin typeface="Segoe UI"/>
              </a:rPr>
              <a:t>Harness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4A4A55"/>
                </a:solidFill>
                <a:latin typeface="Segoe UI"/>
              </a:rPr>
              <a:t>framework shim: setup() / run() / teardown()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26480" y="4709160"/>
            <a:ext cx="0" cy="182880"/>
          </a:xfrm>
          <a:prstGeom prst="line">
            <a:avLst/>
          </a:prstGeom>
          <a:ln w="19050">
            <a:solidFill>
              <a:srgbClr val="4A4A55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760720" y="4892040"/>
            <a:ext cx="5608015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8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2B2B2B"/>
                </a:solidFill>
                <a:latin typeface="Segoe UI"/>
              </a:rPr>
              <a:t/>
            </a:r>
            <a:r>
              <a:rPr sz="1100" b="1" i="0">
                <a:solidFill>
                  <a:srgbClr val="102A43"/>
                </a:solidFill>
                <a:latin typeface="Segoe UI"/>
              </a:rPr>
              <a:t>framework under test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4A4A55"/>
                </a:solidFill>
                <a:latin typeface="Segoe UI"/>
              </a:rPr>
              <a:t>real adapter, mock model + tools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720" y="5897880"/>
            <a:ext cx="5608015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C50F1F"/>
                </a:solidFill>
                <a:latin typeface="Segoe UI"/>
              </a:rPr>
              <a:t>14 vectors today (L1+L2). RM-01 (critical): negative-path / fail-closed vectors missing.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0078D4"/>
                </a:solidFill>
                <a:latin typeface="Segoe UI"/>
              </a:rPr>
              <a:t>STATUS</a:t>
            </a:r>
          </a:p>
          <a:p>
            <a:pPr>
              <a:spcAft>
                <a:spcPts val="400"/>
              </a:spcAft>
            </a:pPr>
            <a:r>
              <a:rPr sz="2600" b="1" i="0">
                <a:solidFill>
                  <a:srgbClr val="101010"/>
                </a:solidFill>
                <a:latin typeface="Segoe UI"/>
              </a:rPr>
              <a:t>SDK parity at v0.1.0-alpha.1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4A4A55"/>
                </a:solidFill>
                <a:latin typeface="Segoe UI"/>
              </a:rPr>
              <a:t>Python is the reference; others ship types + identity + Harness interface; CTK runners scaffolded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10911535" cy="13716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26080" y="2194560"/>
            <a:ext cx="1371600" cy="64008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102A43"/>
                </a:solidFill>
                <a:latin typeface="Segoe UI"/>
              </a:rPr>
              <a:t>types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2194560"/>
            <a:ext cx="1371600" cy="64008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102A43"/>
                </a:solidFill>
                <a:latin typeface="Segoe UI"/>
              </a:rPr>
              <a:t>canonical /
identity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2194560"/>
            <a:ext cx="1371600" cy="64008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102A43"/>
                </a:solidFill>
                <a:latin typeface="Segoe UI"/>
              </a:rPr>
              <a:t>emitter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78040" y="2194560"/>
            <a:ext cx="1371600" cy="64008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102A43"/>
                </a:solidFill>
                <a:latin typeface="Segoe UI"/>
              </a:rPr>
              <a:t>Harness
iface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2194560"/>
            <a:ext cx="1371600" cy="64008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102A43"/>
                </a:solidFill>
                <a:latin typeface="Segoe UI"/>
              </a:rPr>
              <a:t>CTK
runner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12680" y="2194560"/>
            <a:ext cx="1371600" cy="64008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102A43"/>
                </a:solidFill>
                <a:latin typeface="Segoe UI"/>
              </a:rPr>
              <a:t>CI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2926079"/>
            <a:ext cx="1417320" cy="64008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Python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2926079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926079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2926079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2926079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95360" y="2926079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12680" y="2926079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3639311"/>
            <a:ext cx="1417320" cy="64008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Rust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26080" y="3639311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639311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3639311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6E6E6E"/>
                </a:solidFill>
                <a:latin typeface="Segoe UI"/>
              </a:rPr>
              <a:t>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78040" y="3639311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95360" y="3639311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C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scaffold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12680" y="3639311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352544"/>
            <a:ext cx="1417320" cy="64008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TypeScript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26080" y="4352544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3400" y="4352544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720" y="4352544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6E6E6E"/>
                </a:solidFill>
                <a:latin typeface="Segoe UI"/>
              </a:rPr>
              <a:t>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78040" y="4352544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95360" y="4352544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C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scaffold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12680" y="4352544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63040" y="5065775"/>
            <a:ext cx="1417320" cy="64008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.NET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26080" y="5065775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065775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60720" y="5065775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6E6E6E"/>
                </a:solidFill>
                <a:latin typeface="Segoe UI"/>
              </a:rPr>
              <a:t>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78040" y="5065775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95360" y="5065775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C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scaffold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12680" y="5065775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63040" y="5779007"/>
            <a:ext cx="1417320" cy="64008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Go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926080" y="5779007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43400" y="5779007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760720" y="5779007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6E6E6E"/>
                </a:solidFill>
                <a:latin typeface="Segoe UI"/>
              </a:rPr>
              <a:t>—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78040" y="5779007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95360" y="5779007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C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scaffold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12680" y="5779007"/>
            <a:ext cx="1371600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85216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47/47 Python tests pass. All 14 vectors pass against ReferenceHarness. 6/6 CI jobs green at HEAD.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0078D4"/>
                </a:solidFill>
                <a:latin typeface="Segoe UI"/>
              </a:rPr>
              <a:t>ARCHITECTURAL REVIEW</a:t>
            </a:r>
          </a:p>
          <a:p>
            <a:pPr>
              <a:spcAft>
                <a:spcPts val="400"/>
              </a:spcAft>
            </a:pPr>
            <a:r>
              <a:rPr sz="2600" b="1" i="0">
                <a:solidFill>
                  <a:srgbClr val="101010"/>
                </a:solidFill>
                <a:latin typeface="Segoe UI"/>
              </a:rPr>
              <a:t>58 deduplicated findings: severity vs effort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4A4A55"/>
                </a:solidFill>
                <a:latin typeface="Segoe UI"/>
              </a:rPr>
              <a:t>18-dimension parallel review; 96 raw findings deduplicated to 58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10911535" cy="13716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1463040" y="5852160"/>
            <a:ext cx="7680960" cy="0"/>
          </a:xfrm>
          <a:prstGeom prst="line">
            <a:avLst/>
          </a:prstGeom>
          <a:ln w="19050">
            <a:solidFill>
              <a:srgbClr val="2B2B2B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463040" y="2286000"/>
            <a:ext cx="0" cy="3566160"/>
          </a:xfrm>
          <a:prstGeom prst="line">
            <a:avLst/>
          </a:prstGeom>
          <a:ln w="19050">
            <a:solidFill>
              <a:srgbClr val="2B2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148840" y="5897880"/>
            <a:ext cx="54864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4A4A55"/>
                </a:solidFill>
                <a:latin typeface="Segoe UI"/>
              </a:rPr>
              <a:t>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69080" y="5897880"/>
            <a:ext cx="54864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4A4A55"/>
                </a:solidFill>
                <a:latin typeface="Segoe UI"/>
              </a:rPr>
              <a:t>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5897880"/>
            <a:ext cx="54864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4A4A55"/>
                </a:solidFill>
                <a:latin typeface="Segoe UI"/>
              </a:rPr>
              <a:t>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09560" y="5897880"/>
            <a:ext cx="54864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4A4A55"/>
                </a:solidFill>
                <a:latin typeface="Segoe UI"/>
              </a:rPr>
              <a:t>XL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6217920"/>
            <a:ext cx="182880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4A4A55"/>
                </a:solidFill>
                <a:latin typeface="Segoe UI"/>
              </a:rPr>
              <a:t>effort 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69230"/>
            <a:ext cx="86868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4A4A55"/>
                </a:solidFill>
                <a:latin typeface="Segoe UI"/>
              </a:rPr>
              <a:t>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377690"/>
            <a:ext cx="86868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4A4A55"/>
                </a:solidFill>
                <a:latin typeface="Segoe UI"/>
              </a:rPr>
              <a:t>medium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86150"/>
            <a:ext cx="86868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4A4A55"/>
                </a:solidFill>
                <a:latin typeface="Segoe UI"/>
              </a:rPr>
              <a:t>high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594610"/>
            <a:ext cx="86868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4A4A55"/>
                </a:solidFill>
                <a:latin typeface="Segoe UI"/>
              </a:rPr>
              <a:t>critical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3931920"/>
            <a:ext cx="27432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4A4A55"/>
                </a:solidFill>
                <a:latin typeface="Segoe UI"/>
              </a:rPr>
              <a:t>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08760" y="2286000"/>
            <a:ext cx="3794760" cy="1783080"/>
          </a:xfrm>
          <a:prstGeom prst="roundRect">
            <a:avLst>
              <a:gd name="adj" fmla="val 8000"/>
            </a:avLst>
          </a:prstGeom>
          <a:noFill/>
          <a:ln w="25400">
            <a:solidFill>
              <a:srgbClr val="108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554480" y="2331720"/>
            <a:ext cx="1280160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0883E"/>
                </a:solidFill>
                <a:latin typeface="Segoe UI"/>
              </a:rPr>
              <a:t>NOW (26)</a:t>
            </a:r>
          </a:p>
        </p:txBody>
      </p:sp>
      <p:sp>
        <p:nvSpPr>
          <p:cNvPr id="19" name="Oval 18"/>
          <p:cNvSpPr/>
          <p:nvPr/>
        </p:nvSpPr>
        <p:spPr>
          <a:xfrm>
            <a:off x="4178808" y="2567178"/>
            <a:ext cx="329184" cy="329184"/>
          </a:xfrm>
          <a:prstGeom prst="ellipse">
            <a:avLst/>
          </a:prstGeom>
          <a:solidFill>
            <a:srgbClr val="C50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78808" y="2594610"/>
            <a:ext cx="329184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53712" y="2622042"/>
            <a:ext cx="822960" cy="22860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C50F1F"/>
                </a:solidFill>
                <a:latin typeface="Cascadia Mono"/>
              </a:rPr>
              <a:t>RM-01</a:t>
            </a:r>
          </a:p>
        </p:txBody>
      </p:sp>
      <p:sp>
        <p:nvSpPr>
          <p:cNvPr id="22" name="Oval 21"/>
          <p:cNvSpPr/>
          <p:nvPr/>
        </p:nvSpPr>
        <p:spPr>
          <a:xfrm>
            <a:off x="2123377" y="3323527"/>
            <a:ext cx="599564" cy="599564"/>
          </a:xfrm>
          <a:prstGeom prst="ellipse">
            <a:avLst/>
          </a:prstGeom>
          <a:solidFill>
            <a:srgbClr val="C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123377" y="3486150"/>
            <a:ext cx="599564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24" name="Oval 23"/>
          <p:cNvSpPr/>
          <p:nvPr/>
        </p:nvSpPr>
        <p:spPr>
          <a:xfrm>
            <a:off x="4035857" y="3315767"/>
            <a:ext cx="615085" cy="615085"/>
          </a:xfrm>
          <a:prstGeom prst="ellipse">
            <a:avLst/>
          </a:prstGeom>
          <a:solidFill>
            <a:srgbClr val="C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035857" y="3486150"/>
            <a:ext cx="615085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26" name="Oval 25"/>
          <p:cNvSpPr/>
          <p:nvPr/>
        </p:nvSpPr>
        <p:spPr>
          <a:xfrm>
            <a:off x="6099048" y="3458718"/>
            <a:ext cx="329184" cy="329184"/>
          </a:xfrm>
          <a:prstGeom prst="ellipse">
            <a:avLst/>
          </a:prstGeom>
          <a:solidFill>
            <a:srgbClr val="C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99048" y="3486150"/>
            <a:ext cx="329184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73951" y="3513582"/>
            <a:ext cx="822960" cy="22860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CA5A00"/>
                </a:solidFill>
                <a:latin typeface="Cascadia Mono"/>
              </a:rPr>
              <a:t>RM-27</a:t>
            </a:r>
          </a:p>
        </p:txBody>
      </p:sp>
      <p:sp>
        <p:nvSpPr>
          <p:cNvPr id="29" name="Oval 28"/>
          <p:cNvSpPr/>
          <p:nvPr/>
        </p:nvSpPr>
        <p:spPr>
          <a:xfrm>
            <a:off x="2087221" y="4178911"/>
            <a:ext cx="671876" cy="67187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087221" y="4377690"/>
            <a:ext cx="671876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17</a:t>
            </a:r>
          </a:p>
        </p:txBody>
      </p:sp>
      <p:sp>
        <p:nvSpPr>
          <p:cNvPr id="31" name="Oval 30"/>
          <p:cNvSpPr/>
          <p:nvPr/>
        </p:nvSpPr>
        <p:spPr>
          <a:xfrm>
            <a:off x="4078493" y="4249943"/>
            <a:ext cx="529813" cy="529813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078493" y="4377690"/>
            <a:ext cx="529813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33" name="Oval 32"/>
          <p:cNvSpPr/>
          <p:nvPr/>
        </p:nvSpPr>
        <p:spPr>
          <a:xfrm>
            <a:off x="2190752" y="5173982"/>
            <a:ext cx="464815" cy="464815"/>
          </a:xfrm>
          <a:prstGeom prst="ellipse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190752" y="5269230"/>
            <a:ext cx="464815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5" name="Oval 34"/>
          <p:cNvSpPr/>
          <p:nvPr/>
        </p:nvSpPr>
        <p:spPr>
          <a:xfrm>
            <a:off x="4178808" y="5241798"/>
            <a:ext cx="329184" cy="329184"/>
          </a:xfrm>
          <a:prstGeom prst="ellipse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178808" y="5269230"/>
            <a:ext cx="329184" cy="27432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2194560"/>
            <a:ext cx="195041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102A43"/>
                </a:solidFill>
                <a:latin typeface="Segoe UI"/>
              </a:rPr>
              <a:t>Top of NOW</a:t>
            </a:r>
          </a:p>
          <a:p>
            <a:pPr>
              <a:spcAft>
                <a:spcPts val="0"/>
              </a:spcAft>
            </a:pPr>
            <a:r>
              <a:rPr sz="900" b="1" i="0">
                <a:solidFill>
                  <a:srgbClr val="CA5A00"/>
                </a:solidFill>
                <a:latin typeface="Cascadia Mono"/>
              </a:rPr>
              <a:t>  RM-01</a:t>
            </a:r>
          </a:p>
          <a:p>
            <a:pPr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    Fail-closed has zero CTK coverage</a:t>
            </a:r>
          </a:p>
          <a:p>
            <a:pPr>
              <a:spcAft>
                <a:spcPts val="0"/>
              </a:spcAft>
            </a:pPr>
            <a:r>
              <a:rPr sz="900" b="1" i="0">
                <a:solidFill>
                  <a:srgbClr val="CA5A00"/>
                </a:solidFill>
                <a:latin typeface="Cascadia Mono"/>
              </a:rPr>
              <a:t>  RM-08</a:t>
            </a:r>
          </a:p>
          <a:p>
            <a:pPr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    host_error:* verdicts violate own schema</a:t>
            </a:r>
          </a:p>
          <a:p>
            <a:pPr>
              <a:spcAft>
                <a:spcPts val="0"/>
              </a:spcAft>
            </a:pPr>
            <a:r>
              <a:rPr sz="900" b="1" i="0">
                <a:solidFill>
                  <a:srgbClr val="CA5A00"/>
                </a:solidFill>
                <a:latin typeface="Cascadia Mono"/>
              </a:rPr>
              <a:t>  RM-16</a:t>
            </a:r>
          </a:p>
          <a:p>
            <a:pPr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    emit() result is ignorable; deny bypassable</a:t>
            </a:r>
          </a:p>
          <a:p>
            <a:pPr>
              <a:spcAft>
                <a:spcPts val="0"/>
              </a:spcAft>
            </a:pPr>
            <a:r>
              <a:rPr sz="900" b="1" i="0">
                <a:solidFill>
                  <a:srgbClr val="CA5A00"/>
                </a:solidFill>
                <a:latin typeface="Cascadia Mono"/>
              </a:rPr>
              <a:t>  RM-04</a:t>
            </a:r>
          </a:p>
          <a:p>
            <a:pPr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    Mutable ctx → covert transform</a:t>
            </a:r>
          </a:p>
          <a:p>
            <a:pPr>
              <a:spcAft>
                <a:spcPts val="0"/>
              </a:spcAft>
            </a:pPr>
            <a:r>
              <a:rPr sz="900" b="1" i="0">
                <a:solidFill>
                  <a:srgbClr val="CA5A00"/>
                </a:solidFill>
                <a:latin typeface="Cascadia Mono"/>
              </a:rPr>
              <a:t>  RM-02/03</a:t>
            </a:r>
          </a:p>
          <a:p>
            <a:pPr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    Canonical JSON diverges; no golden vectors</a:t>
            </a:r>
          </a:p>
          <a:p>
            <a:pPr>
              <a:spcAft>
                <a:spcPts val="0"/>
              </a:spcAft>
            </a:pPr>
            <a:r>
              <a:rPr sz="900" b="1" i="0">
                <a:solidFill>
                  <a:srgbClr val="CA5A00"/>
                </a:solidFill>
                <a:latin typeface="Cascadia Mono"/>
              </a:rPr>
              <a:t>  RM-05</a:t>
            </a:r>
          </a:p>
          <a:p>
            <a:pPr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    No threat model / non-goals</a:t>
            </a:r>
          </a:p>
          <a:p>
            <a:pPr>
              <a:spcAft>
                <a:spcPts val="0"/>
              </a:spcAft>
            </a:pPr>
            <a:r>
              <a:rPr sz="900" b="1" i="0">
                <a:solidFill>
                  <a:srgbClr val="CA5A00"/>
                </a:solidFill>
                <a:latin typeface="Cascadia Mono"/>
              </a:rPr>
              <a:t>  RM-19/20</a:t>
            </a:r>
          </a:p>
          <a:p>
            <a:pPr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    Actions unpinned; Cargo.lock ignored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0078D4"/>
                </a:solidFill>
                <a:latin typeface="Segoe UI"/>
              </a:rPr>
              <a:t>DECISIONS NEEDED</a:t>
            </a:r>
          </a:p>
          <a:p>
            <a:pPr>
              <a:spcAft>
                <a:spcPts val="400"/>
              </a:spcAft>
            </a:pPr>
            <a:r>
              <a:rPr sz="2600" b="1" i="0">
                <a:solidFill>
                  <a:srgbClr val="101010"/>
                </a:solidFill>
                <a:latin typeface="Segoe UI"/>
              </a:rPr>
              <a:t>Six open design questions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4A4A55"/>
                </a:solidFill>
                <a:latin typeface="Segoe UI"/>
              </a:rPr>
              <a:t>Each changes normative spec text; need a call before v0.1.0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10911535" cy="13716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920240"/>
            <a:ext cx="457200" cy="594360"/>
          </a:xfrm>
          <a:prstGeom prst="roundRect">
            <a:avLst>
              <a:gd name="adj" fmla="val 8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920240"/>
            <a:ext cx="9997135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Canonical JSON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Replace §10.1 with RFC 8785 (JCS) reference, or document deltas as a JCS profile?   [RM-02]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633472"/>
            <a:ext cx="457200" cy="594360"/>
          </a:xfrm>
          <a:prstGeom prst="roundRect">
            <a:avLst>
              <a:gd name="adj" fmla="val 8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633472"/>
            <a:ext cx="9997135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Approval transform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May ApprovalResolution return transform, or restrict to allow|warn so resolvers cannot bypass interceptors?   [RM-09]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346704"/>
            <a:ext cx="457200" cy="594360"/>
          </a:xfrm>
          <a:prstGeom prst="roundRect">
            <a:avLst>
              <a:gd name="adj" fmla="val 8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346704"/>
            <a:ext cx="9997135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Zero interceptors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Implicit allow, or deny with host_error:no_consumer?   [RM-12]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59935"/>
            <a:ext cx="457200" cy="594360"/>
          </a:xfrm>
          <a:prstGeom prst="roundRect">
            <a:avLst>
              <a:gd name="adj" fmla="val 8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4059935"/>
            <a:ext cx="9997135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Multi-interceptor combine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Keep first-block short-circuit, or invoke all and apply deny&gt;escalate&gt;transform&gt;warn&gt;allow lattice?   [RM-11]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773168"/>
            <a:ext cx="457200" cy="594360"/>
          </a:xfrm>
          <a:prstGeom prst="roundRect">
            <a:avLst>
              <a:gd name="adj" fmla="val 8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773168"/>
            <a:ext cx="9997135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Interceptor trust roles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All interceptors one trust class, or define observing vs controlling at registration?   [RM-29]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486400"/>
            <a:ext cx="457200" cy="594360"/>
          </a:xfrm>
          <a:prstGeom prst="roundRect">
            <a:avLst>
              <a:gd name="adj" fmla="val 8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486400"/>
            <a:ext cx="9997135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Streaming egress</a:t>
            </a:r>
          </a:p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In scope for 0.1 (buffer-until-permit), or explicit non-goal deferred to 0.2?   [RM-10]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i="0">
                <a:solidFill>
                  <a:srgbClr val="0078D4"/>
                </a:solidFill>
                <a:latin typeface="Segoe UI"/>
              </a:rPr>
              <a:t>ROADMAP</a:t>
            </a:r>
          </a:p>
          <a:p>
            <a:pPr>
              <a:spcAft>
                <a:spcPts val="400"/>
              </a:spcAft>
            </a:pPr>
            <a:r>
              <a:rPr sz="2600" b="1" i="0">
                <a:solidFill>
                  <a:srgbClr val="101010"/>
                </a:solidFill>
                <a:latin typeface="Segoe UI"/>
              </a:rPr>
              <a:t>Now / Next / Later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4A4A55"/>
                </a:solidFill>
                <a:latin typeface="Segoe UI"/>
              </a:rPr>
              <a:t>docs/arch-review/2026-06-22/ROADMAP.md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10911535" cy="13716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3393338" cy="640080"/>
          </a:xfrm>
          <a:prstGeom prst="roundRect">
            <a:avLst>
              <a:gd name="adj" fmla="val 8000"/>
            </a:avLst>
          </a:prstGeom>
          <a:solidFill>
            <a:srgbClr val="108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NOW  (26)</a:t>
            </a:r>
          </a:p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E8E8E8"/>
                </a:solidFill>
                <a:latin typeface="Segoe UI"/>
              </a:rPr>
              <a:t>before widening collaborator access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3393338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8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606040"/>
            <a:ext cx="3119018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RM-01 fail-closed CTK vectors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RM-02/03 RFC 8785 + golden vectors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RM-04/16 immutable ctx + must-use result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RM-05 threat model + non-goals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RM-08 schema fix for host_error:*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RM-09/11/12 §7 + §9 spec tightening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RM-19/20/25 CI pinning + CODEOWNERS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9178" y="1828800"/>
            <a:ext cx="3393338" cy="64008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NEXT  (26)</a:t>
            </a:r>
          </a:p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E8E8E8"/>
                </a:solidFill>
                <a:latin typeface="Segoe UI"/>
              </a:rPr>
              <a:t>before spec/v0.1.0 tag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468880"/>
            <a:ext cx="3393338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6338" y="2606040"/>
            <a:ext cx="3119018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RM-27 cross-SDK CTK parity gate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RM-29 interceptor trust roles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RM-34 per-interceptor verdict provenance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RM-40 payload size/depth bounds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RM-43 release workflow + SBOM + signing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RM-45 Level-3 vectors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RM-51 OWASP/NIST controls map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75396" y="1828800"/>
            <a:ext cx="3393338" cy="640080"/>
          </a:xfrm>
          <a:prstGeom prst="roundRect">
            <a:avLst>
              <a:gd name="adj" fmla="val 8000"/>
            </a:avLst>
          </a:prstGeom>
          <a:solidFill>
            <a:srgbClr val="4A4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LATER  (6)</a:t>
            </a:r>
          </a:p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E8E8E8"/>
                </a:solidFill>
                <a:latin typeface="Segoe UI"/>
              </a:rPr>
              <a:t>post-0.1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5396" y="2468880"/>
            <a:ext cx="3393338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4A4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2556" y="2606040"/>
            <a:ext cx="3119018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RM-54 pluggable telemetry sink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RM-55 per-SDK READMEs</a:t>
            </a:r>
          </a:p>
          <a:p>
            <a:pPr>
              <a:spcAft>
                <a:spcPts val="600"/>
              </a:spcAft>
            </a:pPr>
            <a:r>
              <a:rPr sz="900" b="0" i="0">
                <a:solidFill>
                  <a:srgbClr val="2B2B2B"/>
                </a:solidFill>
                <a:latin typeface="Segoe UI"/>
              </a:rPr>
              <a:t>RM-56/57/58 hygiene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997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00B7C3"/>
                </a:solidFill>
                <a:latin typeface="Segoe UI"/>
              </a:rPr>
              <a:t>ASK</a:t>
            </a:r>
          </a:p>
          <a:p>
            <a:pPr>
              <a:spcAft>
                <a:spcPts val="14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What we need from this review</a:t>
            </a:r>
          </a:p>
          <a:p>
            <a:pPr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  •  Decide the six open questions</a:t>
            </a:r>
          </a:p>
          <a:p>
            <a:pPr>
              <a:spcAft>
                <a:spcPts val="1000"/>
              </a:spcAft>
            </a:pPr>
            <a:r>
              <a:rPr sz="1000" b="0" i="0">
                <a:solidFill>
                  <a:srgbClr val="C0C8D4"/>
                </a:solidFill>
                <a:latin typeface="Segoe UI"/>
              </a:rPr>
              <a:t>      Each is a one-paragraph spec edit once decided; blocking RM-02/09/10/11/12/29.</a:t>
            </a:r>
          </a:p>
          <a:p>
            <a:pPr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  •  Confirm the layering cut</a:t>
            </a:r>
          </a:p>
          <a:p>
            <a:pPr>
              <a:spcAft>
                <a:spcPts val="1000"/>
              </a:spcAft>
            </a:pPr>
            <a:r>
              <a:rPr sz="1000" b="0" i="0">
                <a:solidFill>
                  <a:srgbClr val="C0C8D4"/>
                </a:solidFill>
                <a:latin typeface="Segoe UI"/>
              </a:rPr>
              <a:t>      Verdict and approval seam in agent-hooks vs ACS; identity computed over AgentContext not PolicyInput.</a:t>
            </a:r>
          </a:p>
          <a:p>
            <a:pPr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  •  Nominate per-language CTK owners</a:t>
            </a:r>
          </a:p>
          <a:p>
            <a:pPr>
              <a:spcAft>
                <a:spcPts val="1000"/>
              </a:spcAft>
            </a:pPr>
            <a:r>
              <a:rPr sz="1000" b="0" i="0">
                <a:solidFill>
                  <a:srgbClr val="C0C8D4"/>
                </a:solidFill>
                <a:latin typeface="Segoe UI"/>
              </a:rPr>
              <a:t>      Rust, TS, .NET, Go runners are scaffolded; need an owner each to reach parity (RM-27).</a:t>
            </a:r>
          </a:p>
          <a:p>
            <a:pPr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  •  Approve the conformance-claim format</a:t>
            </a:r>
          </a:p>
          <a:p>
            <a:pPr>
              <a:spcAft>
                <a:spcPts val="1000"/>
              </a:spcAft>
            </a:pPr>
            <a:r>
              <a:rPr sz="1000" b="0" i="0">
                <a:solidFill>
                  <a:srgbClr val="C0C8D4"/>
                </a:solidFill>
                <a:latin typeface="Segoe UI"/>
              </a:rPr>
              <a:t>      CLAIMS.md row shape and the scope disclaimer (RM-30).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6035040"/>
            <a:ext cx="9997135" cy="36576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200"/>
              </a:spcAft>
            </a:pPr>
            <a:r>
              <a:rPr sz="900" b="0" i="0">
                <a:solidFill>
                  <a:srgbClr val="909CAA"/>
                </a:solidFill>
                <a:latin typeface="Cascadia Mono"/>
              </a:rPr>
              <a:t>github.com/responsibleai/agent-hooks  ·  spec/AGENT-HOOKS-0.1.md  ·  docs/arch-review/2026-06-22/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